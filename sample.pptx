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4AE2"/>
    <a:srgbClr val="004A82"/>
    <a:srgbClr val="692DC1"/>
    <a:srgbClr val="2C0F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49576" y="-169672"/>
            <a:ext cx="8292846" cy="7768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94690" y="1287144"/>
            <a:ext cx="10802620" cy="3965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412.12216" TargetMode="External"/><Relationship Id="rId2" Type="http://schemas.openxmlformats.org/officeDocument/2006/relationships/hyperlink" Target="https://doi.org/10.1016/j.procs.2022.07.031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hyperlink" Target="https://sciendo.com/article/10.2478/jee-2023-0055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0.jp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40535" y="91897"/>
            <a:ext cx="8809355" cy="6496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62610">
              <a:lnSpc>
                <a:spcPct val="100000"/>
              </a:lnSpc>
              <a:spcBef>
                <a:spcPts val="105"/>
              </a:spcBef>
            </a:pPr>
            <a:r>
              <a:rPr lang="en-IN"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G</a:t>
            </a:r>
            <a:r>
              <a:rPr sz="2000" b="1" spc="-5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H</a:t>
            </a:r>
            <a:r>
              <a:rPr sz="2000" b="1" spc="-3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RAISONI</a:t>
            </a:r>
            <a:r>
              <a:rPr sz="2000" b="1" spc="-5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COLLEGE</a:t>
            </a:r>
            <a:r>
              <a:rPr sz="2000" b="1" spc="-3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OF</a:t>
            </a:r>
            <a:r>
              <a:rPr sz="2000" b="1" spc="-3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ENGINEERING</a:t>
            </a:r>
            <a:r>
              <a:rPr sz="2000" b="1" spc="-5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AND</a:t>
            </a:r>
            <a:r>
              <a:rPr sz="2000" b="1" spc="-2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6F2F9F"/>
                </a:solidFill>
                <a:latin typeface="Times New Roman"/>
                <a:cs typeface="Times New Roman"/>
              </a:rPr>
              <a:t>MANAGEMENT</a:t>
            </a:r>
            <a:endParaRPr sz="2000" dirty="0">
              <a:latin typeface="Times New Roman"/>
              <a:cs typeface="Times New Roman"/>
            </a:endParaRPr>
          </a:p>
          <a:p>
            <a:pPr marR="270510" algn="ctr">
              <a:lnSpc>
                <a:spcPts val="1664"/>
              </a:lnSpc>
              <a:spcBef>
                <a:spcPts val="50"/>
              </a:spcBef>
            </a:pPr>
            <a:r>
              <a:rPr sz="1400" dirty="0">
                <a:latin typeface="Calibri"/>
                <a:cs typeface="Calibri"/>
              </a:rPr>
              <a:t>(Approved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by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AICTE,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New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Delhi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Recognized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by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DTE,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Maharashtra)</a:t>
            </a:r>
            <a:endParaRPr sz="1400" dirty="0">
              <a:latin typeface="Calibri"/>
              <a:cs typeface="Calibri"/>
            </a:endParaRPr>
          </a:p>
          <a:p>
            <a:pPr marL="603885">
              <a:lnSpc>
                <a:spcPts val="2145"/>
              </a:lnSpc>
            </a:pP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An</a:t>
            </a:r>
            <a:r>
              <a:rPr sz="1800" b="1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Autonomous</a:t>
            </a:r>
            <a:r>
              <a:rPr sz="1800" b="1" spc="-7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Institute</a:t>
            </a:r>
            <a:r>
              <a:rPr sz="1800" b="1" spc="-7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Affiliated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Rashtrasant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Tukadoji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Maharaj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Nagpur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University,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Nagpur</a:t>
            </a:r>
            <a:endParaRPr sz="1400" dirty="0">
              <a:latin typeface="Calibri"/>
              <a:cs typeface="Calibri"/>
            </a:endParaRPr>
          </a:p>
          <a:p>
            <a:pPr marR="272415" algn="ctr">
              <a:lnSpc>
                <a:spcPct val="100000"/>
              </a:lnSpc>
            </a:pP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Accredited</a:t>
            </a:r>
            <a:r>
              <a:rPr sz="1800" b="1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by</a:t>
            </a:r>
            <a:r>
              <a:rPr sz="1800" b="1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NAAC</a:t>
            </a:r>
            <a:r>
              <a:rPr sz="1800" b="1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with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A+</a:t>
            </a:r>
            <a:r>
              <a:rPr sz="1800" b="1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Grade</a:t>
            </a:r>
            <a:endParaRPr sz="1800" dirty="0">
              <a:latin typeface="Calibri"/>
              <a:cs typeface="Calibri"/>
            </a:endParaRPr>
          </a:p>
          <a:p>
            <a:pPr marR="2593975" algn="r">
              <a:lnSpc>
                <a:spcPts val="2190"/>
              </a:lnSpc>
              <a:spcBef>
                <a:spcPts val="5"/>
              </a:spcBef>
            </a:pPr>
            <a:r>
              <a:rPr sz="2000" b="1" dirty="0">
                <a:latin typeface="Times New Roman"/>
                <a:cs typeface="Times New Roman"/>
              </a:rPr>
              <a:t>Department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 err="1">
                <a:latin typeface="Times New Roman"/>
                <a:cs typeface="Times New Roman"/>
              </a:rPr>
              <a:t>Artif</a:t>
            </a:r>
            <a:r>
              <a:rPr lang="en-IN" sz="2000" b="1" dirty="0" err="1">
                <a:latin typeface="Times New Roman"/>
                <a:cs typeface="Times New Roman"/>
              </a:rPr>
              <a:t>i</a:t>
            </a:r>
            <a:r>
              <a:rPr sz="2000" b="1" dirty="0" err="1">
                <a:latin typeface="Times New Roman"/>
                <a:cs typeface="Times New Roman"/>
              </a:rPr>
              <a:t>cial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Intelligence</a:t>
            </a:r>
            <a:endParaRPr sz="2000" dirty="0">
              <a:latin typeface="Times New Roman"/>
              <a:cs typeface="Times New Roman"/>
            </a:endParaRPr>
          </a:p>
          <a:p>
            <a:pPr marR="2553970" algn="r">
              <a:lnSpc>
                <a:spcPts val="2670"/>
              </a:lnSpc>
            </a:pPr>
            <a:r>
              <a:rPr sz="2400" b="1" dirty="0">
                <a:latin typeface="Times New Roman"/>
                <a:cs typeface="Times New Roman"/>
              </a:rPr>
              <a:t>Second</a:t>
            </a:r>
            <a:r>
              <a:rPr sz="2400" b="1" spc="-10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Progressive</a:t>
            </a:r>
            <a:r>
              <a:rPr sz="2400" b="1" spc="-10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Seminar</a:t>
            </a:r>
            <a:endParaRPr sz="2400" dirty="0">
              <a:latin typeface="Times New Roman"/>
              <a:cs typeface="Times New Roman"/>
            </a:endParaRPr>
          </a:p>
          <a:p>
            <a:pPr marL="12065" marR="5080" algn="ctr">
              <a:lnSpc>
                <a:spcPct val="102099"/>
              </a:lnSpc>
              <a:spcBef>
                <a:spcPts val="645"/>
              </a:spcBef>
              <a:tabLst>
                <a:tab pos="562610" algn="l"/>
              </a:tabLst>
            </a:pPr>
            <a:r>
              <a:rPr sz="2400" b="1" i="1" spc="-25" dirty="0">
                <a:latin typeface="Times New Roman"/>
                <a:cs typeface="Times New Roman"/>
              </a:rPr>
              <a:t>Of</a:t>
            </a:r>
            <a:r>
              <a:rPr sz="2400" b="1" i="1" dirty="0">
                <a:latin typeface="Times New Roman"/>
                <a:cs typeface="Times New Roman"/>
              </a:rPr>
              <a:t>	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Minor</a:t>
            </a:r>
            <a:r>
              <a:rPr sz="2400" b="1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Project</a:t>
            </a:r>
            <a:r>
              <a:rPr sz="2400" b="1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under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Course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Category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Community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Engagement </a:t>
            </a:r>
            <a:r>
              <a:rPr sz="2400" b="1" dirty="0">
                <a:latin typeface="Times New Roman"/>
                <a:cs typeface="Times New Roman"/>
              </a:rPr>
              <a:t>Project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(CEP)</a:t>
            </a:r>
            <a:endParaRPr sz="2400" dirty="0">
              <a:latin typeface="Times New Roman"/>
              <a:cs typeface="Times New Roman"/>
            </a:endParaRPr>
          </a:p>
          <a:p>
            <a:pPr marR="267970" algn="ctr">
              <a:lnSpc>
                <a:spcPts val="2775"/>
              </a:lnSpc>
            </a:pPr>
            <a:r>
              <a:rPr sz="2400" b="1" spc="-25" dirty="0">
                <a:latin typeface="Times New Roman"/>
                <a:cs typeface="Times New Roman"/>
              </a:rPr>
              <a:t>On</a:t>
            </a:r>
            <a:endParaRPr sz="2400" dirty="0">
              <a:latin typeface="Times New Roman"/>
              <a:cs typeface="Times New Roman"/>
            </a:endParaRPr>
          </a:p>
          <a:p>
            <a:pPr marL="466725" marR="559435" algn="ctr">
              <a:lnSpc>
                <a:spcPts val="2580"/>
              </a:lnSpc>
              <a:spcBef>
                <a:spcPts val="475"/>
              </a:spcBef>
            </a:pPr>
            <a:r>
              <a:rPr sz="2400" dirty="0">
                <a:solidFill>
                  <a:srgbClr val="264AE2"/>
                </a:solidFill>
                <a:latin typeface="Arial Black"/>
                <a:cs typeface="Arial Black"/>
              </a:rPr>
              <a:t>Sit</a:t>
            </a:r>
            <a:r>
              <a:rPr sz="2400" spc="-30" dirty="0">
                <a:solidFill>
                  <a:srgbClr val="264AE2"/>
                </a:solidFill>
                <a:latin typeface="Arial Black"/>
                <a:cs typeface="Arial Black"/>
              </a:rPr>
              <a:t> </a:t>
            </a:r>
            <a:r>
              <a:rPr sz="2400" dirty="0">
                <a:solidFill>
                  <a:srgbClr val="264AE2"/>
                </a:solidFill>
                <a:latin typeface="Arial Black"/>
                <a:cs typeface="Arial Black"/>
              </a:rPr>
              <a:t>Smart</a:t>
            </a:r>
            <a:r>
              <a:rPr sz="2400" spc="-25" dirty="0">
                <a:solidFill>
                  <a:srgbClr val="264AE2"/>
                </a:solidFill>
                <a:latin typeface="Arial Black"/>
                <a:cs typeface="Arial Black"/>
              </a:rPr>
              <a:t> </a:t>
            </a:r>
            <a:r>
              <a:rPr sz="2400" dirty="0">
                <a:solidFill>
                  <a:srgbClr val="264AE2"/>
                </a:solidFill>
                <a:latin typeface="Arial Black"/>
                <a:cs typeface="Arial Black"/>
              </a:rPr>
              <a:t>Coach:</a:t>
            </a:r>
            <a:r>
              <a:rPr sz="2400" spc="-25" dirty="0">
                <a:solidFill>
                  <a:srgbClr val="264AE2"/>
                </a:solidFill>
                <a:latin typeface="Arial Black"/>
                <a:cs typeface="Arial Black"/>
              </a:rPr>
              <a:t> </a:t>
            </a:r>
            <a:r>
              <a:rPr sz="2400" dirty="0">
                <a:solidFill>
                  <a:srgbClr val="264AE2"/>
                </a:solidFill>
                <a:latin typeface="Arial Black"/>
                <a:cs typeface="Arial Black"/>
              </a:rPr>
              <a:t>Posture</a:t>
            </a:r>
            <a:r>
              <a:rPr sz="2400" spc="-30" dirty="0">
                <a:solidFill>
                  <a:srgbClr val="264AE2"/>
                </a:solidFill>
                <a:latin typeface="Arial Black"/>
                <a:cs typeface="Arial Black"/>
              </a:rPr>
              <a:t> </a:t>
            </a:r>
            <a:r>
              <a:rPr sz="2400" dirty="0">
                <a:solidFill>
                  <a:srgbClr val="264AE2"/>
                </a:solidFill>
                <a:latin typeface="Arial Black"/>
                <a:cs typeface="Arial Black"/>
              </a:rPr>
              <a:t>Monitoring</a:t>
            </a:r>
            <a:r>
              <a:rPr sz="2400" spc="-35" dirty="0">
                <a:solidFill>
                  <a:srgbClr val="264AE2"/>
                </a:solidFill>
                <a:latin typeface="Arial Black"/>
                <a:cs typeface="Arial Black"/>
              </a:rPr>
              <a:t> </a:t>
            </a:r>
            <a:r>
              <a:rPr sz="2400" dirty="0">
                <a:solidFill>
                  <a:srgbClr val="264AE2"/>
                </a:solidFill>
                <a:latin typeface="Arial Black"/>
                <a:cs typeface="Arial Black"/>
              </a:rPr>
              <a:t>&amp;</a:t>
            </a:r>
            <a:r>
              <a:rPr sz="2400" spc="-15" dirty="0">
                <a:solidFill>
                  <a:srgbClr val="264AE2"/>
                </a:solidFill>
                <a:latin typeface="Arial Black"/>
                <a:cs typeface="Arial Black"/>
              </a:rPr>
              <a:t> </a:t>
            </a:r>
            <a:r>
              <a:rPr sz="2400" spc="-10" dirty="0">
                <a:solidFill>
                  <a:srgbClr val="264AE2"/>
                </a:solidFill>
                <a:latin typeface="Arial Black"/>
                <a:cs typeface="Arial Black"/>
              </a:rPr>
              <a:t>Fitness </a:t>
            </a:r>
            <a:r>
              <a:rPr sz="2400" dirty="0">
                <a:solidFill>
                  <a:srgbClr val="264AE2"/>
                </a:solidFill>
                <a:latin typeface="Arial Black"/>
                <a:cs typeface="Arial Black"/>
              </a:rPr>
              <a:t>Form</a:t>
            </a:r>
            <a:r>
              <a:rPr sz="2400" spc="-30" dirty="0">
                <a:solidFill>
                  <a:srgbClr val="264AE2"/>
                </a:solidFill>
                <a:latin typeface="Arial Black"/>
                <a:cs typeface="Arial Black"/>
              </a:rPr>
              <a:t> </a:t>
            </a:r>
            <a:r>
              <a:rPr sz="2400" dirty="0">
                <a:solidFill>
                  <a:srgbClr val="264AE2"/>
                </a:solidFill>
                <a:latin typeface="Arial Black"/>
                <a:cs typeface="Arial Black"/>
              </a:rPr>
              <a:t>Guidance</a:t>
            </a:r>
            <a:r>
              <a:rPr sz="2400" spc="-20" dirty="0">
                <a:solidFill>
                  <a:srgbClr val="264AE2"/>
                </a:solidFill>
                <a:latin typeface="Arial Black"/>
                <a:cs typeface="Arial Black"/>
              </a:rPr>
              <a:t> </a:t>
            </a:r>
            <a:r>
              <a:rPr sz="2400" dirty="0">
                <a:solidFill>
                  <a:srgbClr val="264AE2"/>
                </a:solidFill>
                <a:latin typeface="Arial Black"/>
                <a:cs typeface="Arial Black"/>
              </a:rPr>
              <a:t>Using</a:t>
            </a:r>
            <a:r>
              <a:rPr sz="2400" spc="-20" dirty="0">
                <a:solidFill>
                  <a:srgbClr val="264AE2"/>
                </a:solidFill>
                <a:latin typeface="Arial Black"/>
                <a:cs typeface="Arial Black"/>
              </a:rPr>
              <a:t> </a:t>
            </a:r>
            <a:r>
              <a:rPr sz="2400" dirty="0">
                <a:solidFill>
                  <a:srgbClr val="264AE2"/>
                </a:solidFill>
                <a:latin typeface="Arial Black"/>
                <a:cs typeface="Arial Black"/>
              </a:rPr>
              <a:t>Machine</a:t>
            </a:r>
            <a:r>
              <a:rPr sz="2400" spc="-20" dirty="0">
                <a:solidFill>
                  <a:srgbClr val="264AE2"/>
                </a:solidFill>
                <a:latin typeface="Arial Black"/>
                <a:cs typeface="Arial Black"/>
              </a:rPr>
              <a:t> </a:t>
            </a:r>
            <a:r>
              <a:rPr sz="2400" spc="-10" dirty="0">
                <a:solidFill>
                  <a:srgbClr val="264AE2"/>
                </a:solidFill>
                <a:latin typeface="Arial Black"/>
                <a:cs typeface="Arial Black"/>
              </a:rPr>
              <a:t>Learning</a:t>
            </a:r>
            <a:endParaRPr lang="en-IN" sz="2400" spc="-10" dirty="0">
              <a:solidFill>
                <a:srgbClr val="264AE2"/>
              </a:solidFill>
              <a:latin typeface="Arial Black"/>
              <a:cs typeface="Arial Black"/>
            </a:endParaRPr>
          </a:p>
          <a:p>
            <a:pPr marL="466725" marR="559435" algn="ctr">
              <a:lnSpc>
                <a:spcPts val="2580"/>
              </a:lnSpc>
              <a:spcBef>
                <a:spcPts val="475"/>
              </a:spcBef>
            </a:pPr>
            <a:r>
              <a:rPr sz="2000" b="1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Name</a:t>
            </a:r>
            <a:r>
              <a:rPr sz="2000" b="1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sz="2000" b="1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guide</a:t>
            </a:r>
            <a:r>
              <a:rPr sz="2000" b="1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:</a:t>
            </a:r>
            <a:r>
              <a:rPr sz="2000" b="1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Dr</a:t>
            </a:r>
            <a:r>
              <a:rPr sz="2000" b="1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000" b="1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Smrita</a:t>
            </a:r>
            <a:r>
              <a:rPr sz="2000" b="1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dirty="0" err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Nirkhi</a:t>
            </a:r>
            <a:r>
              <a:rPr sz="2000" b="1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Mam</a:t>
            </a:r>
            <a:r>
              <a:rPr lang="en-IN" sz="2000" b="1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                 </a:t>
            </a:r>
          </a:p>
          <a:p>
            <a:pPr marL="466725" marR="559435" algn="ctr">
              <a:lnSpc>
                <a:spcPts val="2580"/>
              </a:lnSpc>
              <a:spcBef>
                <a:spcPts val="475"/>
              </a:spcBef>
            </a:pPr>
            <a:r>
              <a:rPr lang="en-IN" sz="2000" b="1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Project In-charge :  Shweta Bhelonde Mam   </a:t>
            </a:r>
            <a:endParaRPr sz="2000" dirty="0">
              <a:latin typeface="Times New Roman"/>
              <a:cs typeface="Times New Roman"/>
            </a:endParaRPr>
          </a:p>
          <a:p>
            <a:pPr marR="91440" algn="ctr">
              <a:lnSpc>
                <a:spcPct val="100000"/>
              </a:lnSpc>
              <a:spcBef>
                <a:spcPts val="1330"/>
              </a:spcBef>
            </a:pPr>
            <a:r>
              <a:rPr sz="18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Name</a:t>
            </a:r>
            <a:r>
              <a:rPr sz="18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sz="18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projectees</a:t>
            </a:r>
            <a:endParaRPr sz="1800" dirty="0">
              <a:latin typeface="Times New Roman"/>
              <a:cs typeface="Times New Roman"/>
            </a:endParaRPr>
          </a:p>
          <a:p>
            <a:pPr marL="262255">
              <a:lnSpc>
                <a:spcPct val="100000"/>
              </a:lnSpc>
              <a:spcBef>
                <a:spcPts val="1320"/>
              </a:spcBef>
              <a:tabLst>
                <a:tab pos="3196590" algn="l"/>
                <a:tab pos="6978015" algn="l"/>
              </a:tabLst>
            </a:pPr>
            <a:r>
              <a:rPr sz="1800" b="1" dirty="0">
                <a:latin typeface="Times New Roman"/>
                <a:cs typeface="Times New Roman"/>
              </a:rPr>
              <a:t>1.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Prachi</a:t>
            </a:r>
            <a:r>
              <a:rPr sz="1800" b="1" spc="-20" dirty="0">
                <a:latin typeface="Times New Roman"/>
                <a:cs typeface="Times New Roman"/>
              </a:rPr>
              <a:t> Hole</a:t>
            </a:r>
            <a:r>
              <a:rPr sz="1800" b="1" dirty="0">
                <a:latin typeface="Times New Roman"/>
                <a:cs typeface="Times New Roman"/>
              </a:rPr>
              <a:t>	2.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Maheshwari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Rewatkar</a:t>
            </a:r>
            <a:r>
              <a:rPr sz="1800" b="1" dirty="0">
                <a:latin typeface="Times New Roman"/>
                <a:cs typeface="Times New Roman"/>
              </a:rPr>
              <a:t>	3.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Pooja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Kawle</a:t>
            </a:r>
            <a:endParaRPr sz="1800" dirty="0">
              <a:latin typeface="Times New Roman"/>
              <a:cs typeface="Times New Roman"/>
            </a:endParaRPr>
          </a:p>
          <a:p>
            <a:pPr marL="1478915">
              <a:lnSpc>
                <a:spcPct val="100000"/>
              </a:lnSpc>
              <a:tabLst>
                <a:tab pos="5526405" algn="l"/>
              </a:tabLst>
            </a:pPr>
            <a:r>
              <a:rPr sz="1800" b="1" dirty="0">
                <a:latin typeface="Times New Roman"/>
                <a:cs typeface="Times New Roman"/>
              </a:rPr>
              <a:t>4.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Pratibha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Chauhan</a:t>
            </a:r>
            <a:r>
              <a:rPr sz="1800" b="1" dirty="0">
                <a:latin typeface="Times New Roman"/>
                <a:cs typeface="Times New Roman"/>
              </a:rPr>
              <a:t>	5.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Pooja</a:t>
            </a:r>
            <a:r>
              <a:rPr sz="1800" b="1" spc="2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Jamunpane</a:t>
            </a: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64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R="88900" algn="ctr">
              <a:lnSpc>
                <a:spcPct val="100000"/>
              </a:lnSpc>
              <a:spcBef>
                <a:spcPts val="5"/>
              </a:spcBef>
            </a:pPr>
            <a:r>
              <a:rPr sz="2400" b="1" spc="-20" dirty="0">
                <a:latin typeface="Times New Roman"/>
                <a:cs typeface="Times New Roman"/>
              </a:rPr>
              <a:t>Session:2025-2026</a:t>
            </a:r>
            <a:endParaRPr sz="24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512723"/>
            <a:ext cx="12191999" cy="34527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47244"/>
            <a:ext cx="2331719" cy="150647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17480" y="35775"/>
            <a:ext cx="1874520" cy="9018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9526" y="-30149"/>
            <a:ext cx="12201525" cy="446405"/>
            <a:chOff x="-4762" y="-4762"/>
            <a:chExt cx="12201525" cy="44640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2192000" cy="436880"/>
            </a:xfrm>
            <a:custGeom>
              <a:avLst/>
              <a:gdLst/>
              <a:ahLst/>
              <a:cxnLst/>
              <a:rect l="l" t="t" r="r" b="b"/>
              <a:pathLst>
                <a:path w="12192000" h="436880">
                  <a:moveTo>
                    <a:pt x="0" y="436499"/>
                  </a:moveTo>
                  <a:lnTo>
                    <a:pt x="12192000" y="4364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436499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2192000" cy="436880"/>
            </a:xfrm>
            <a:custGeom>
              <a:avLst/>
              <a:gdLst/>
              <a:ahLst/>
              <a:cxnLst/>
              <a:rect l="l" t="t" r="r" b="b"/>
              <a:pathLst>
                <a:path w="12192000" h="436880">
                  <a:moveTo>
                    <a:pt x="0" y="0"/>
                  </a:moveTo>
                  <a:lnTo>
                    <a:pt x="0" y="436499"/>
                  </a:lnTo>
                  <a:lnTo>
                    <a:pt x="12192000" y="436499"/>
                  </a:lnTo>
                  <a:lnTo>
                    <a:pt x="1219200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329871" y="-30149"/>
            <a:ext cx="1532255" cy="497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Contents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512723"/>
            <a:ext cx="12191999" cy="34527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90600" y="564043"/>
            <a:ext cx="8305800" cy="5994590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355600" lvl="1" indent="-342900">
              <a:spcBef>
                <a:spcPts val="805"/>
              </a:spcBef>
              <a:buClr>
                <a:srgbClr val="A4A4A4"/>
              </a:buClr>
              <a:buFont typeface="Arial" panose="020B0604020202020204" pitchFamily="34" charset="0"/>
              <a:buChar char="•"/>
              <a:tabLst>
                <a:tab pos="287020" algn="l"/>
              </a:tabLst>
            </a:pPr>
            <a:r>
              <a:rPr sz="2400" spc="-10" dirty="0">
                <a:latin typeface="Times New Roman"/>
                <a:cs typeface="Times New Roman"/>
              </a:rPr>
              <a:t>Introduction</a:t>
            </a:r>
            <a:endParaRPr sz="2400" dirty="0">
              <a:latin typeface="Times New Roman"/>
              <a:cs typeface="Times New Roman"/>
            </a:endParaRPr>
          </a:p>
          <a:p>
            <a:pPr marL="355600" lvl="1" indent="-342900">
              <a:spcBef>
                <a:spcPts val="710"/>
              </a:spcBef>
              <a:buClr>
                <a:srgbClr val="A4A4A4"/>
              </a:buClr>
              <a:buFont typeface="Arial" panose="020B0604020202020204" pitchFamily="34" charset="0"/>
              <a:buChar char="•"/>
              <a:tabLst>
                <a:tab pos="287020" algn="l"/>
              </a:tabLst>
            </a:pPr>
            <a:r>
              <a:rPr sz="2400" dirty="0">
                <a:latin typeface="Times New Roman"/>
                <a:cs typeface="Times New Roman"/>
              </a:rPr>
              <a:t>Impact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project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 society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environment</a:t>
            </a:r>
            <a:endParaRPr sz="2400" dirty="0">
              <a:latin typeface="Times New Roman"/>
              <a:cs typeface="Times New Roman"/>
            </a:endParaRPr>
          </a:p>
          <a:p>
            <a:pPr marL="355600" lvl="1" indent="-342900">
              <a:spcBef>
                <a:spcPts val="720"/>
              </a:spcBef>
              <a:buClr>
                <a:srgbClr val="A4A4A4"/>
              </a:buClr>
              <a:buFont typeface="Arial" panose="020B0604020202020204" pitchFamily="34" charset="0"/>
              <a:buChar char="•"/>
              <a:tabLst>
                <a:tab pos="287020" algn="l"/>
              </a:tabLst>
            </a:pPr>
            <a:r>
              <a:rPr sz="2400" dirty="0">
                <a:latin typeface="Times New Roman"/>
                <a:cs typeface="Times New Roman"/>
              </a:rPr>
              <a:t>Literature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Survey</a:t>
            </a:r>
            <a:endParaRPr sz="2400" dirty="0">
              <a:latin typeface="Times New Roman"/>
              <a:cs typeface="Times New Roman"/>
            </a:endParaRPr>
          </a:p>
          <a:p>
            <a:pPr marL="355600" lvl="1" indent="-342900">
              <a:spcBef>
                <a:spcPts val="650"/>
              </a:spcBef>
              <a:buClr>
                <a:srgbClr val="A4A4A4"/>
              </a:buClr>
              <a:buFont typeface="Arial" panose="020B0604020202020204" pitchFamily="34" charset="0"/>
              <a:buChar char="•"/>
              <a:tabLst>
                <a:tab pos="287020" algn="l"/>
              </a:tabLst>
            </a:pPr>
            <a:r>
              <a:rPr sz="2400" dirty="0">
                <a:latin typeface="Times New Roman"/>
                <a:cs typeface="Times New Roman"/>
              </a:rPr>
              <a:t>Problem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Statement</a:t>
            </a:r>
            <a:endParaRPr sz="2400" dirty="0">
              <a:latin typeface="Times New Roman"/>
              <a:cs typeface="Times New Roman"/>
            </a:endParaRPr>
          </a:p>
          <a:p>
            <a:pPr marL="355600" lvl="1" indent="-342900">
              <a:spcBef>
                <a:spcPts val="770"/>
              </a:spcBef>
              <a:buClr>
                <a:srgbClr val="A4A4A4"/>
              </a:buClr>
              <a:buFont typeface="Arial" panose="020B0604020202020204" pitchFamily="34" charset="0"/>
              <a:buChar char="•"/>
              <a:tabLst>
                <a:tab pos="287020" algn="l"/>
              </a:tabLst>
            </a:pPr>
            <a:r>
              <a:rPr sz="2400" dirty="0">
                <a:latin typeface="Times New Roman"/>
                <a:cs typeface="Times New Roman"/>
              </a:rPr>
              <a:t>Objectives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Project</a:t>
            </a:r>
            <a:endParaRPr sz="2400" dirty="0">
              <a:latin typeface="Times New Roman"/>
              <a:cs typeface="Times New Roman"/>
            </a:endParaRPr>
          </a:p>
          <a:p>
            <a:pPr marL="355600" lvl="1" indent="-342900">
              <a:spcBef>
                <a:spcPts val="720"/>
              </a:spcBef>
              <a:buClr>
                <a:srgbClr val="A4A4A4"/>
              </a:buClr>
              <a:buFont typeface="Arial" panose="020B0604020202020204" pitchFamily="34" charset="0"/>
              <a:buChar char="•"/>
              <a:tabLst>
                <a:tab pos="287020" algn="l"/>
              </a:tabLst>
            </a:pPr>
            <a:r>
              <a:rPr sz="2400" spc="-10" dirty="0">
                <a:latin typeface="Times New Roman"/>
                <a:cs typeface="Times New Roman"/>
              </a:rPr>
              <a:t>Flowchart</a:t>
            </a:r>
            <a:endParaRPr sz="2400" dirty="0">
              <a:latin typeface="Times New Roman"/>
              <a:cs typeface="Times New Roman"/>
            </a:endParaRPr>
          </a:p>
          <a:p>
            <a:pPr marL="355600" lvl="1" indent="-342900">
              <a:spcBef>
                <a:spcPts val="645"/>
              </a:spcBef>
              <a:buClr>
                <a:srgbClr val="A4A4A4"/>
              </a:buClr>
              <a:buFont typeface="Arial" panose="020B0604020202020204" pitchFamily="34" charset="0"/>
              <a:buChar char="•"/>
              <a:tabLst>
                <a:tab pos="287020" algn="l"/>
              </a:tabLst>
            </a:pPr>
            <a:r>
              <a:rPr sz="2400" dirty="0">
                <a:latin typeface="Times New Roman"/>
                <a:cs typeface="Times New Roman"/>
              </a:rPr>
              <a:t>Description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Project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Working</a:t>
            </a:r>
            <a:endParaRPr sz="2400" dirty="0">
              <a:latin typeface="Times New Roman"/>
              <a:cs typeface="Times New Roman"/>
            </a:endParaRPr>
          </a:p>
          <a:p>
            <a:pPr marL="355600" lvl="1" indent="-342900">
              <a:spcBef>
                <a:spcPts val="770"/>
              </a:spcBef>
              <a:buClr>
                <a:srgbClr val="A4A4A4"/>
              </a:buClr>
              <a:buFont typeface="Arial" panose="020B0604020202020204" pitchFamily="34" charset="0"/>
              <a:buChar char="•"/>
              <a:tabLst>
                <a:tab pos="287020" algn="l"/>
              </a:tabLst>
            </a:pPr>
            <a:r>
              <a:rPr sz="2400" dirty="0">
                <a:latin typeface="Times New Roman"/>
                <a:cs typeface="Times New Roman"/>
              </a:rPr>
              <a:t>Innovative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Work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(If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any)</a:t>
            </a:r>
            <a:endParaRPr sz="2400" dirty="0">
              <a:latin typeface="Times New Roman"/>
              <a:cs typeface="Times New Roman"/>
            </a:endParaRPr>
          </a:p>
          <a:p>
            <a:pPr marL="355600" lvl="1" indent="-342900">
              <a:spcBef>
                <a:spcPts val="720"/>
              </a:spcBef>
              <a:buClr>
                <a:srgbClr val="A4A4A4"/>
              </a:buClr>
              <a:buFont typeface="Arial" panose="020B0604020202020204" pitchFamily="34" charset="0"/>
              <a:buChar char="•"/>
              <a:tabLst>
                <a:tab pos="287020" algn="l"/>
              </a:tabLst>
            </a:pPr>
            <a:r>
              <a:rPr sz="2400" dirty="0">
                <a:latin typeface="Times New Roman"/>
                <a:cs typeface="Times New Roman"/>
              </a:rPr>
              <a:t>Current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Progress</a:t>
            </a:r>
            <a:endParaRPr sz="2400" dirty="0">
              <a:latin typeface="Times New Roman"/>
              <a:cs typeface="Times New Roman"/>
            </a:endParaRPr>
          </a:p>
          <a:p>
            <a:pPr marL="355600" lvl="1" indent="-342900">
              <a:spcBef>
                <a:spcPts val="710"/>
              </a:spcBef>
              <a:buClr>
                <a:srgbClr val="A4A4A4"/>
              </a:buClr>
              <a:buFont typeface="Arial" panose="020B0604020202020204" pitchFamily="34" charset="0"/>
              <a:buChar char="•"/>
              <a:tabLst>
                <a:tab pos="287020" algn="l"/>
              </a:tabLst>
            </a:pPr>
            <a:r>
              <a:rPr sz="2400" dirty="0">
                <a:latin typeface="Times New Roman"/>
                <a:cs typeface="Times New Roman"/>
              </a:rPr>
              <a:t>Result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&amp;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Discussion</a:t>
            </a:r>
            <a:endParaRPr sz="2400" dirty="0">
              <a:latin typeface="Times New Roman"/>
              <a:cs typeface="Times New Roman"/>
            </a:endParaRPr>
          </a:p>
          <a:p>
            <a:pPr marL="355600" lvl="1" indent="-342900">
              <a:spcBef>
                <a:spcPts val="710"/>
              </a:spcBef>
              <a:buClr>
                <a:srgbClr val="A4A4A4"/>
              </a:buClr>
              <a:buFont typeface="Arial" panose="020B0604020202020204" pitchFamily="34" charset="0"/>
              <a:buChar char="•"/>
              <a:tabLst>
                <a:tab pos="287020" algn="l"/>
              </a:tabLst>
            </a:pPr>
            <a:r>
              <a:rPr sz="2400" dirty="0">
                <a:latin typeface="Times New Roman"/>
                <a:cs typeface="Times New Roman"/>
              </a:rPr>
              <a:t>Conclusion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&amp;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Future </a:t>
            </a:r>
            <a:r>
              <a:rPr sz="2400" spc="-20" dirty="0">
                <a:latin typeface="Times New Roman"/>
                <a:cs typeface="Times New Roman"/>
              </a:rPr>
              <a:t>Scope</a:t>
            </a:r>
            <a:endParaRPr sz="2400" dirty="0">
              <a:latin typeface="Times New Roman"/>
              <a:cs typeface="Times New Roman"/>
            </a:endParaRPr>
          </a:p>
          <a:p>
            <a:pPr marL="355600" lvl="1" indent="-342900">
              <a:spcBef>
                <a:spcPts val="720"/>
              </a:spcBef>
              <a:buClr>
                <a:srgbClr val="A4A4A4"/>
              </a:buClr>
              <a:buFont typeface="Arial" panose="020B0604020202020204" pitchFamily="34" charset="0"/>
              <a:buChar char="•"/>
              <a:tabLst>
                <a:tab pos="287020" algn="l"/>
              </a:tabLst>
            </a:pPr>
            <a:r>
              <a:rPr sz="2400" dirty="0">
                <a:latin typeface="Times New Roman"/>
                <a:cs typeface="Times New Roman"/>
              </a:rPr>
              <a:t>Work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Plan</a:t>
            </a:r>
            <a:endParaRPr sz="2400" dirty="0">
              <a:latin typeface="Times New Roman"/>
              <a:cs typeface="Times New Roman"/>
            </a:endParaRPr>
          </a:p>
          <a:p>
            <a:pPr marL="355600" lvl="1" indent="-342900">
              <a:spcBef>
                <a:spcPts val="650"/>
              </a:spcBef>
              <a:buClr>
                <a:srgbClr val="A4A4A4"/>
              </a:buClr>
              <a:buFont typeface="Arial" panose="020B0604020202020204" pitchFamily="34" charset="0"/>
              <a:buChar char="•"/>
              <a:tabLst>
                <a:tab pos="287020" algn="l"/>
              </a:tabLst>
            </a:pPr>
            <a:r>
              <a:rPr sz="2400" spc="-10" dirty="0">
                <a:latin typeface="Times New Roman"/>
                <a:cs typeface="Times New Roman"/>
              </a:rPr>
              <a:t>References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5416" y="1115695"/>
            <a:ext cx="11048365" cy="4293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4965" algn="l"/>
              </a:tabLst>
            </a:pPr>
            <a:r>
              <a:rPr sz="2000" dirty="0">
                <a:latin typeface="Arial MT"/>
                <a:cs typeface="Arial MT"/>
              </a:rPr>
              <a:t>In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today's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digital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age,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prolonged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laptop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common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among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professionals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students.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Font typeface="Wingdings"/>
              <a:buChar char=""/>
            </a:pP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354965" algn="l"/>
              </a:tabLst>
            </a:pPr>
            <a:r>
              <a:rPr sz="2000" dirty="0">
                <a:latin typeface="Arial MT"/>
                <a:cs typeface="Arial MT"/>
              </a:rPr>
              <a:t>Poor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sitting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posture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lead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fatigue,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neck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back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pain,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long-term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health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issues.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Font typeface="Wingdings"/>
              <a:buChar char=""/>
            </a:pP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354965" algn="l"/>
              </a:tabLst>
            </a:pPr>
            <a:r>
              <a:rPr sz="2000" dirty="0">
                <a:latin typeface="Arial MT"/>
                <a:cs typeface="Arial MT"/>
              </a:rPr>
              <a:t>SitSmart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Coach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addresses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this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using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computer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vision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1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AI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guide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users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toward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healthier</a:t>
            </a:r>
            <a:endParaRPr sz="20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</a:pPr>
            <a:r>
              <a:rPr sz="2000" spc="-10" dirty="0">
                <a:latin typeface="Arial MT"/>
                <a:cs typeface="Arial MT"/>
              </a:rPr>
              <a:t>posture.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"/>
              <a:tabLst>
                <a:tab pos="354965" algn="l"/>
              </a:tabLst>
            </a:pPr>
            <a:r>
              <a:rPr sz="2000" dirty="0">
                <a:latin typeface="Arial MT"/>
                <a:cs typeface="Arial MT"/>
              </a:rPr>
              <a:t>Unlike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wearables,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works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just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webcam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extra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hardware.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Wingdings"/>
              <a:buChar char=""/>
            </a:pP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"/>
              <a:tabLst>
                <a:tab pos="354965" algn="l"/>
              </a:tabLst>
            </a:pPr>
            <a:r>
              <a:rPr sz="2000" dirty="0">
                <a:latin typeface="Arial MT"/>
                <a:cs typeface="Arial MT"/>
              </a:rPr>
              <a:t>Encourages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proactive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wellness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improves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ergonomic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habits.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Font typeface="Wingdings"/>
              <a:buChar char=""/>
            </a:pP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"/>
              <a:tabLst>
                <a:tab pos="354965" algn="l"/>
              </a:tabLst>
            </a:pPr>
            <a:r>
              <a:rPr sz="2000" dirty="0">
                <a:latin typeface="Arial MT"/>
                <a:cs typeface="Arial MT"/>
              </a:rPr>
              <a:t>Helps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build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healthy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posture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habits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over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time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using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friendly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alerts.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Wingdings"/>
              <a:buChar char=""/>
            </a:pP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"/>
              <a:tabLst>
                <a:tab pos="354965" algn="l"/>
              </a:tabLst>
            </a:pPr>
            <a:r>
              <a:rPr sz="2000" dirty="0">
                <a:latin typeface="Arial MT"/>
                <a:cs typeface="Arial MT"/>
              </a:rPr>
              <a:t>Designed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laptop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users,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especially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students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desk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workers.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2201525" cy="466725"/>
            <a:chOff x="-4762" y="-4762"/>
            <a:chExt cx="12201525" cy="466725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12192000" cy="457200"/>
            </a:xfrm>
            <a:custGeom>
              <a:avLst/>
              <a:gdLst/>
              <a:ahLst/>
              <a:cxnLst/>
              <a:rect l="l" t="t" r="r" b="b"/>
              <a:pathLst>
                <a:path w="12192000" h="457200">
                  <a:moveTo>
                    <a:pt x="0" y="457200"/>
                  </a:moveTo>
                  <a:lnTo>
                    <a:pt x="12192000" y="457200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2192000" cy="457200"/>
            </a:xfrm>
            <a:custGeom>
              <a:avLst/>
              <a:gdLst/>
              <a:ahLst/>
              <a:cxnLst/>
              <a:rect l="l" t="t" r="r" b="b"/>
              <a:pathLst>
                <a:path w="12192000" h="457200">
                  <a:moveTo>
                    <a:pt x="0" y="0"/>
                  </a:moveTo>
                  <a:lnTo>
                    <a:pt x="0" y="457200"/>
                  </a:lnTo>
                  <a:lnTo>
                    <a:pt x="12192000" y="457200"/>
                  </a:lnTo>
                  <a:lnTo>
                    <a:pt x="1219200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949576" y="-4916"/>
            <a:ext cx="8292846" cy="4892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80385">
              <a:lnSpc>
                <a:spcPct val="100000"/>
              </a:lnSpc>
              <a:spcBef>
                <a:spcPts val="95"/>
              </a:spcBef>
            </a:pPr>
            <a:r>
              <a:rPr lang="en-IN" spc="-10" dirty="0"/>
              <a:t>Introduction</a:t>
            </a:r>
            <a:endParaRPr spc="-10" dirty="0"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512723"/>
            <a:ext cx="12191999" cy="3452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4400" y="838200"/>
            <a:ext cx="9146540" cy="37709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buFont typeface="Wingdings"/>
              <a:buChar char=""/>
            </a:pPr>
            <a:endParaRPr lang="en-IN" sz="2000" dirty="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4965" algn="l"/>
              </a:tabLst>
            </a:pPr>
            <a:r>
              <a:rPr sz="2000" b="1" dirty="0">
                <a:latin typeface="Arial"/>
                <a:cs typeface="Arial"/>
              </a:rPr>
              <a:t>Health:</a:t>
            </a:r>
            <a:r>
              <a:rPr sz="2000" b="1" spc="-60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Prevents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repetitive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stress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injuries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promotes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ergonomic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posture.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Font typeface="Wingdings"/>
              <a:buChar char=""/>
            </a:pPr>
            <a:endParaRPr sz="2000" dirty="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354965" algn="l"/>
              </a:tabLst>
            </a:pPr>
            <a:r>
              <a:rPr sz="2000" b="1" dirty="0">
                <a:latin typeface="Arial"/>
                <a:cs typeface="Arial"/>
              </a:rPr>
              <a:t>Education: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Helps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students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during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long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study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sessions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stay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physically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healthy.</a:t>
            </a:r>
            <a:endParaRPr lang="en-US" sz="2000" spc="-1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354965" algn="l"/>
              </a:tabLst>
            </a:pPr>
            <a:endParaRPr sz="2000" dirty="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354965" algn="l"/>
              </a:tabLst>
            </a:pPr>
            <a:r>
              <a:rPr sz="2000" b="1" dirty="0">
                <a:latin typeface="Arial"/>
                <a:cs typeface="Arial"/>
              </a:rPr>
              <a:t>Workplace: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Enhances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employee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well-</a:t>
            </a:r>
            <a:r>
              <a:rPr sz="2000" dirty="0">
                <a:latin typeface="Arial MT"/>
                <a:cs typeface="Arial MT"/>
              </a:rPr>
              <a:t>being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hybrid/remote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jobs.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Wingdings"/>
              <a:buChar char=""/>
            </a:pPr>
            <a:endParaRPr sz="2000" dirty="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"/>
              <a:tabLst>
                <a:tab pos="354965" algn="l"/>
              </a:tabLst>
            </a:pPr>
            <a:r>
              <a:rPr sz="2000" b="1" dirty="0">
                <a:latin typeface="Arial"/>
                <a:cs typeface="Arial"/>
              </a:rPr>
              <a:t>Environmentally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Friendly: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No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new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hardware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=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less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e-</a:t>
            </a:r>
            <a:r>
              <a:rPr sz="2000" spc="-10" dirty="0">
                <a:latin typeface="Arial MT"/>
                <a:cs typeface="Arial MT"/>
              </a:rPr>
              <a:t>waste.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Wingdings"/>
              <a:buChar char=""/>
            </a:pPr>
            <a:endParaRPr sz="2000" dirty="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"/>
              <a:tabLst>
                <a:tab pos="354965" algn="l"/>
              </a:tabLst>
            </a:pPr>
            <a:r>
              <a:rPr sz="2000" b="1" spc="-10" dirty="0">
                <a:latin typeface="Arial"/>
                <a:cs typeface="Arial"/>
              </a:rPr>
              <a:t>Cost-</a:t>
            </a:r>
            <a:r>
              <a:rPr sz="2000" b="1" dirty="0">
                <a:latin typeface="Arial"/>
                <a:cs typeface="Arial"/>
              </a:rPr>
              <a:t>saving: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Reduces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need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expensive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posture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devices.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Font typeface="Wingdings"/>
              <a:buChar char=""/>
            </a:pPr>
            <a:endParaRPr sz="2000" dirty="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"/>
              <a:tabLst>
                <a:tab pos="354965" algn="l"/>
              </a:tabLst>
            </a:pPr>
            <a:r>
              <a:rPr sz="2000" b="1" dirty="0">
                <a:latin typeface="Arial"/>
                <a:cs typeface="Arial"/>
              </a:rPr>
              <a:t>Behavioral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Impact: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Builds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long-</a:t>
            </a:r>
            <a:r>
              <a:rPr sz="2000" dirty="0">
                <a:latin typeface="Arial MT"/>
                <a:cs typeface="Arial MT"/>
              </a:rPr>
              <a:t>term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good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habits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through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micro-</a:t>
            </a:r>
            <a:r>
              <a:rPr sz="2000" spc="-10" dirty="0">
                <a:latin typeface="Arial MT"/>
                <a:cs typeface="Arial MT"/>
              </a:rPr>
              <a:t>interventions.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12230285" cy="581572"/>
          </a:xfrm>
          <a:custGeom>
            <a:avLst/>
            <a:gdLst/>
            <a:ahLst/>
            <a:cxnLst/>
            <a:rect l="l" t="t" r="r" b="b"/>
            <a:pathLst>
              <a:path w="12192000" h="457200">
                <a:moveTo>
                  <a:pt x="0" y="457200"/>
                </a:moveTo>
                <a:lnTo>
                  <a:pt x="12192000" y="457200"/>
                </a:lnTo>
                <a:lnTo>
                  <a:pt x="12192000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658206" y="46168"/>
            <a:ext cx="8875585" cy="4892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Impact</a:t>
            </a:r>
            <a:r>
              <a:rPr spc="-55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dirty="0"/>
              <a:t>project</a:t>
            </a:r>
            <a:r>
              <a:rPr spc="-65" dirty="0"/>
              <a:t> </a:t>
            </a:r>
            <a:r>
              <a:rPr dirty="0"/>
              <a:t>on</a:t>
            </a:r>
            <a:r>
              <a:rPr spc="-70" dirty="0"/>
              <a:t> </a:t>
            </a:r>
            <a:r>
              <a:rPr dirty="0"/>
              <a:t>society</a:t>
            </a:r>
            <a:r>
              <a:rPr spc="-60" dirty="0"/>
              <a:t> </a:t>
            </a:r>
            <a:r>
              <a:rPr dirty="0"/>
              <a:t>and</a:t>
            </a:r>
            <a:r>
              <a:rPr spc="-70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spc="-10" dirty="0"/>
              <a:t>environment</a:t>
            </a: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512723"/>
            <a:ext cx="12191999" cy="3452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62475" y="770762"/>
          <a:ext cx="12054205" cy="574103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8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95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0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40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639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609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Sr.Paper</a:t>
                      </a:r>
                      <a:r>
                        <a:rPr sz="14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Title</a:t>
                      </a:r>
                      <a:r>
                        <a:rPr sz="14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its 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Author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609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784225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Details</a:t>
                      </a:r>
                      <a:r>
                        <a:rPr sz="14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Publication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609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Findings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609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42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51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435609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Tlili,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70" dirty="0">
                          <a:latin typeface="Calibri"/>
                          <a:cs typeface="Calibri"/>
                        </a:rPr>
                        <a:t>F.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et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al.,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"Machine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Learning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Algorithms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Application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Proposed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Sitting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Posture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Monitoring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System"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i="1" dirty="0">
                          <a:latin typeface="Calibri"/>
                          <a:cs typeface="Calibri"/>
                        </a:rPr>
                        <a:t>Procedia</a:t>
                      </a:r>
                      <a:r>
                        <a:rPr sz="1400" i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i="1" dirty="0">
                          <a:latin typeface="Calibri"/>
                          <a:cs typeface="Calibri"/>
                        </a:rPr>
                        <a:t>Comput.</a:t>
                      </a:r>
                      <a:r>
                        <a:rPr sz="1400" i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i="1" dirty="0">
                          <a:latin typeface="Calibri"/>
                          <a:cs typeface="Calibri"/>
                        </a:rPr>
                        <a:t>Sci.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203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(2022)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239–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246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20320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Achieved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99.03%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posture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classification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using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pressure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sensors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ML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(KNN,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SVM,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RF);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deployed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Raspberry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Pi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for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standalone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use.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4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9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51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33845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Jin,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H.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et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al.,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"SitPose: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Real-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Time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Detection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Sitting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Posture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and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Sedentary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Behavior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Using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Ensemble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Learning"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i="1" dirty="0">
                          <a:latin typeface="Calibri"/>
                          <a:cs typeface="Calibri"/>
                        </a:rPr>
                        <a:t>arXiv</a:t>
                      </a:r>
                      <a:r>
                        <a:rPr sz="1400" i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i="1" dirty="0">
                          <a:latin typeface="Calibri"/>
                          <a:cs typeface="Calibri"/>
                        </a:rPr>
                        <a:t>preprint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arXiv:2412.12216</a:t>
                      </a:r>
                      <a:r>
                        <a:rPr sz="14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(2024)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3335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Developed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“SitPose”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using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Kinect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ensemble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learning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detect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7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postures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98.1%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F1-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score,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enabling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real-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time,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non-intrusive</a:t>
                      </a:r>
                      <a:r>
                        <a:rPr sz="14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monitoring.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42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9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51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Zhao,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L.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et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al.,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"A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Comparative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Study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Real-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Time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Sitting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Posture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Monitoring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Systems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Using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Pressure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Sensors"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i="1" dirty="0">
                          <a:latin typeface="Calibri"/>
                          <a:cs typeface="Calibri"/>
                        </a:rPr>
                        <a:t>J.</a:t>
                      </a:r>
                      <a:r>
                        <a:rPr sz="1400" i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i="1" spc="-10" dirty="0">
                          <a:latin typeface="Calibri"/>
                          <a:cs typeface="Calibri"/>
                        </a:rPr>
                        <a:t>Electr.</a:t>
                      </a:r>
                      <a:r>
                        <a:rPr sz="1400" i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i="1" dirty="0">
                          <a:latin typeface="Calibri"/>
                          <a:cs typeface="Calibri"/>
                        </a:rPr>
                        <a:t>Eng.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74(6)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(2023)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474–484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70815" algn="just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Developed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SPRS</a:t>
                      </a:r>
                      <a:r>
                        <a:rPr sz="14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using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pressure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sensors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classify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10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sitting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postures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up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to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99.1%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accuracy,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comparing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multiple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ML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models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optimal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performance.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98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3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69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52197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Tej,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K.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80" dirty="0">
                          <a:latin typeface="Calibri"/>
                          <a:cs typeface="Calibri"/>
                        </a:rPr>
                        <a:t>V.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et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al.,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"Intelligent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Posture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Assessment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Using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Machine Learning"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i="1" dirty="0">
                          <a:latin typeface="Calibri"/>
                          <a:cs typeface="Calibri"/>
                        </a:rPr>
                        <a:t>J.</a:t>
                      </a:r>
                      <a:r>
                        <a:rPr sz="1400" i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i="1" dirty="0">
                          <a:latin typeface="Calibri"/>
                          <a:cs typeface="Calibri"/>
                        </a:rPr>
                        <a:t>Comput.</a:t>
                      </a:r>
                      <a:r>
                        <a:rPr sz="1400" i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i="1" dirty="0">
                          <a:latin typeface="Calibri"/>
                          <a:cs typeface="Calibri"/>
                        </a:rPr>
                        <a:t>Anal.</a:t>
                      </a:r>
                      <a:r>
                        <a:rPr sz="1400" i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i="1" dirty="0">
                          <a:latin typeface="Calibri"/>
                          <a:cs typeface="Calibri"/>
                        </a:rPr>
                        <a:t>Appl.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33(6)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(2024)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722–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726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8509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Proposed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cost-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effective webcam-based system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using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MediaPipe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Random Forest,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achieving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95%+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accuracy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real-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time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posture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assessment.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639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23622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Matsumoto,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85" dirty="0">
                          <a:latin typeface="Calibri"/>
                          <a:cs typeface="Calibri"/>
                        </a:rPr>
                        <a:t>Y.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et al.,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"Real-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Time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Posture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Monitoring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System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Using Wearable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Sensors</a:t>
                      </a:r>
                      <a:r>
                        <a:rPr sz="14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Machine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Learning"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i="1" dirty="0">
                          <a:latin typeface="Calibri"/>
                          <a:cs typeface="Calibri"/>
                        </a:rPr>
                        <a:t>J.</a:t>
                      </a:r>
                      <a:r>
                        <a:rPr sz="1400" i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i="1" dirty="0">
                          <a:latin typeface="Calibri"/>
                          <a:cs typeface="Calibri"/>
                        </a:rPr>
                        <a:t>Robot.</a:t>
                      </a:r>
                      <a:r>
                        <a:rPr sz="1400" i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i="1" dirty="0">
                          <a:latin typeface="Calibri"/>
                          <a:cs typeface="Calibri"/>
                        </a:rPr>
                        <a:t>Mechatron.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33(6)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(2021)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1202–1210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1239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Developed</a:t>
                      </a:r>
                      <a:r>
                        <a:rPr sz="14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wearable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sensor-based system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using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accelerometer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gyroscope,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achieving 97.06%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accuracy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in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detecting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medically-relevant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postures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like</a:t>
                      </a:r>
                      <a:r>
                        <a:rPr sz="14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"text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neck."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-4762" y="-4762"/>
            <a:ext cx="12201525" cy="607695"/>
            <a:chOff x="-4762" y="-4762"/>
            <a:chExt cx="12201525" cy="607695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12192000" cy="598170"/>
            </a:xfrm>
            <a:custGeom>
              <a:avLst/>
              <a:gdLst/>
              <a:ahLst/>
              <a:cxnLst/>
              <a:rect l="l" t="t" r="r" b="b"/>
              <a:pathLst>
                <a:path w="12192000" h="598170">
                  <a:moveTo>
                    <a:pt x="0" y="598170"/>
                  </a:moveTo>
                  <a:lnTo>
                    <a:pt x="12192000" y="598170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59817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2192000" cy="598170"/>
            </a:xfrm>
            <a:custGeom>
              <a:avLst/>
              <a:gdLst/>
              <a:ahLst/>
              <a:cxnLst/>
              <a:rect l="l" t="t" r="r" b="b"/>
              <a:pathLst>
                <a:path w="12192000" h="598170">
                  <a:moveTo>
                    <a:pt x="0" y="0"/>
                  </a:moveTo>
                  <a:lnTo>
                    <a:pt x="0" y="598170"/>
                  </a:lnTo>
                  <a:lnTo>
                    <a:pt x="12192000" y="598170"/>
                  </a:lnTo>
                  <a:lnTo>
                    <a:pt x="1219200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3863" rIns="0" bIns="0" rtlCol="0">
            <a:spAutoFit/>
          </a:bodyPr>
          <a:lstStyle/>
          <a:p>
            <a:pPr marL="2635885">
              <a:lnSpc>
                <a:spcPct val="100000"/>
              </a:lnSpc>
              <a:spcBef>
                <a:spcPts val="95"/>
              </a:spcBef>
            </a:pPr>
            <a:r>
              <a:rPr dirty="0"/>
              <a:t>Literature</a:t>
            </a:r>
            <a:r>
              <a:rPr spc="-185" dirty="0"/>
              <a:t> </a:t>
            </a:r>
            <a:r>
              <a:rPr spc="-10" dirty="0"/>
              <a:t>Survey</a:t>
            </a: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520509"/>
            <a:ext cx="12191999" cy="33748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8153" y="1275664"/>
            <a:ext cx="9297670" cy="33801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4965" algn="l"/>
              </a:tabLst>
            </a:pPr>
            <a:r>
              <a:rPr sz="2000" dirty="0">
                <a:latin typeface="Arial MT"/>
                <a:cs typeface="Arial MT"/>
              </a:rPr>
              <a:t>Users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often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sit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long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hours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without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realizing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their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poor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posture.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Wingdings"/>
              <a:buChar char=""/>
            </a:pP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354965" algn="l"/>
              </a:tabLst>
            </a:pPr>
            <a:r>
              <a:rPr sz="2000" dirty="0">
                <a:latin typeface="Arial MT"/>
                <a:cs typeface="Arial MT"/>
              </a:rPr>
              <a:t>Lack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affordable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convenient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real-</a:t>
            </a:r>
            <a:r>
              <a:rPr sz="2000" dirty="0">
                <a:latin typeface="Arial MT"/>
                <a:cs typeface="Arial MT"/>
              </a:rPr>
              <a:t>time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posture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monitoring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solutions.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Font typeface="Wingdings"/>
              <a:buChar char=""/>
            </a:pP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354965" algn="l"/>
              </a:tabLst>
            </a:pPr>
            <a:r>
              <a:rPr sz="2000" dirty="0">
                <a:latin typeface="Arial MT"/>
                <a:cs typeface="Arial MT"/>
              </a:rPr>
              <a:t>Most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available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tools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require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wearables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special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posture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chairs.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Wingdings"/>
              <a:buChar char=""/>
            </a:pP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"/>
              <a:tabLst>
                <a:tab pos="354965" algn="l"/>
              </a:tabLst>
            </a:pPr>
            <a:r>
              <a:rPr sz="2000" dirty="0">
                <a:latin typeface="Arial MT"/>
                <a:cs typeface="Arial MT"/>
              </a:rPr>
              <a:t>No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integrated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system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track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elbow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angle,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gaze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direction,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screen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distance.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Wingdings"/>
              <a:buChar char=""/>
            </a:pP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"/>
              <a:tabLst>
                <a:tab pos="354965" algn="l"/>
              </a:tabLst>
            </a:pPr>
            <a:r>
              <a:rPr sz="2000" dirty="0">
                <a:latin typeface="Arial MT"/>
                <a:cs typeface="Arial MT"/>
              </a:rPr>
              <a:t>Need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simple,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real-</a:t>
            </a:r>
            <a:r>
              <a:rPr sz="2000" dirty="0">
                <a:latin typeface="Arial MT"/>
                <a:cs typeface="Arial MT"/>
              </a:rPr>
              <a:t>time,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software-</a:t>
            </a:r>
            <a:r>
              <a:rPr sz="2000" dirty="0">
                <a:latin typeface="Arial MT"/>
                <a:cs typeface="Arial MT"/>
              </a:rPr>
              <a:t>only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solution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posture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correction.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Wingdings"/>
              <a:buChar char=""/>
            </a:pP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"/>
              <a:tabLst>
                <a:tab pos="354965" algn="l"/>
              </a:tabLst>
            </a:pPr>
            <a:r>
              <a:rPr sz="2000" dirty="0">
                <a:latin typeface="Arial MT"/>
                <a:cs typeface="Arial MT"/>
              </a:rPr>
              <a:t>SitSmart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Coach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solves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this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webcam-based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tracking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feedback.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4762" y="-4699"/>
            <a:ext cx="12201525" cy="649605"/>
            <a:chOff x="-4762" y="-4699"/>
            <a:chExt cx="12201525" cy="649605"/>
          </a:xfrm>
        </p:grpSpPr>
        <p:sp>
          <p:nvSpPr>
            <p:cNvPr id="4" name="object 4"/>
            <p:cNvSpPr/>
            <p:nvPr/>
          </p:nvSpPr>
          <p:spPr>
            <a:xfrm>
              <a:off x="0" y="63"/>
              <a:ext cx="12192000" cy="640080"/>
            </a:xfrm>
            <a:custGeom>
              <a:avLst/>
              <a:gdLst/>
              <a:ahLst/>
              <a:cxnLst/>
              <a:rect l="l" t="t" r="r" b="b"/>
              <a:pathLst>
                <a:path w="12192000" h="640080">
                  <a:moveTo>
                    <a:pt x="12192000" y="0"/>
                  </a:moveTo>
                  <a:lnTo>
                    <a:pt x="0" y="0"/>
                  </a:lnTo>
                  <a:lnTo>
                    <a:pt x="0" y="639762"/>
                  </a:lnTo>
                  <a:lnTo>
                    <a:pt x="12192000" y="63976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3"/>
              <a:ext cx="12192000" cy="640080"/>
            </a:xfrm>
            <a:custGeom>
              <a:avLst/>
              <a:gdLst/>
              <a:ahLst/>
              <a:cxnLst/>
              <a:rect l="l" t="t" r="r" b="b"/>
              <a:pathLst>
                <a:path w="12192000" h="640080">
                  <a:moveTo>
                    <a:pt x="0" y="639762"/>
                  </a:moveTo>
                  <a:lnTo>
                    <a:pt x="12192000" y="63976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9762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5943" rIns="0" bIns="0" rtlCol="0">
            <a:spAutoFit/>
          </a:bodyPr>
          <a:lstStyle/>
          <a:p>
            <a:pPr marL="2524125">
              <a:lnSpc>
                <a:spcPct val="100000"/>
              </a:lnSpc>
              <a:spcBef>
                <a:spcPts val="95"/>
              </a:spcBef>
            </a:pPr>
            <a:r>
              <a:rPr dirty="0"/>
              <a:t>Problem</a:t>
            </a:r>
            <a:r>
              <a:rPr spc="-120" dirty="0"/>
              <a:t> </a:t>
            </a:r>
            <a:r>
              <a:rPr spc="-10" dirty="0"/>
              <a:t>Statement</a:t>
            </a: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512723"/>
            <a:ext cx="12191999" cy="3452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6810" y="1262888"/>
            <a:ext cx="8995410" cy="3379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dirty="0">
                <a:latin typeface="Arial MT"/>
                <a:cs typeface="Arial MT"/>
              </a:rPr>
              <a:t>Develop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posture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correction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tool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using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AI-based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pose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estimation.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Font typeface="Wingdings"/>
              <a:buChar char=""/>
            </a:pPr>
            <a:endParaRPr sz="20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dirty="0">
                <a:latin typeface="Arial MT"/>
                <a:cs typeface="Arial MT"/>
              </a:rPr>
              <a:t>Analyze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user's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elbow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angle,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eye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direction,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screen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distance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from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camera.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Wingdings"/>
              <a:buChar char=""/>
            </a:pPr>
            <a:endParaRPr sz="20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"/>
              <a:tabLst>
                <a:tab pos="355600" algn="l"/>
              </a:tabLst>
            </a:pPr>
            <a:r>
              <a:rPr sz="2000" dirty="0">
                <a:latin typeface="Arial MT"/>
                <a:cs typeface="Arial MT"/>
              </a:rPr>
              <a:t>Provide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real-</a:t>
            </a:r>
            <a:r>
              <a:rPr sz="2000" dirty="0">
                <a:latin typeface="Arial MT"/>
                <a:cs typeface="Arial MT"/>
              </a:rPr>
              <a:t>time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emoji-</a:t>
            </a:r>
            <a:r>
              <a:rPr sz="2000" dirty="0">
                <a:latin typeface="Arial MT"/>
                <a:cs typeface="Arial MT"/>
              </a:rPr>
              <a:t>based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feedback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using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popups.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Wingdings"/>
              <a:buChar char=""/>
            </a:pPr>
            <a:endParaRPr sz="20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"/>
              <a:tabLst>
                <a:tab pos="355600" algn="l"/>
              </a:tabLst>
            </a:pPr>
            <a:r>
              <a:rPr sz="2000" dirty="0">
                <a:latin typeface="Arial MT"/>
                <a:cs typeface="Arial MT"/>
              </a:rPr>
              <a:t>Encourage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proper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sitting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behavior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without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being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intrusive.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Wingdings"/>
              <a:buChar char=""/>
            </a:pPr>
            <a:endParaRPr sz="20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"/>
              <a:tabLst>
                <a:tab pos="355600" algn="l"/>
              </a:tabLst>
            </a:pPr>
            <a:r>
              <a:rPr sz="2000" dirty="0">
                <a:latin typeface="Arial MT"/>
                <a:cs typeface="Arial MT"/>
              </a:rPr>
              <a:t>Design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app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run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minimal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CPU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usage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extra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setup.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Font typeface="Wingdings"/>
              <a:buChar char=""/>
            </a:pPr>
            <a:endParaRPr sz="20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"/>
              <a:tabLst>
                <a:tab pos="355600" algn="l"/>
              </a:tabLst>
            </a:pPr>
            <a:r>
              <a:rPr sz="2000" dirty="0">
                <a:latin typeface="Arial MT"/>
                <a:cs typeface="Arial MT"/>
              </a:rPr>
              <a:t>Ensure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compatibility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common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laptop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webcams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platforms.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4762" y="-4699"/>
            <a:ext cx="12201525" cy="649605"/>
            <a:chOff x="-4762" y="-4699"/>
            <a:chExt cx="12201525" cy="649605"/>
          </a:xfrm>
        </p:grpSpPr>
        <p:sp>
          <p:nvSpPr>
            <p:cNvPr id="4" name="object 4"/>
            <p:cNvSpPr/>
            <p:nvPr/>
          </p:nvSpPr>
          <p:spPr>
            <a:xfrm>
              <a:off x="0" y="63"/>
              <a:ext cx="12192000" cy="640080"/>
            </a:xfrm>
            <a:custGeom>
              <a:avLst/>
              <a:gdLst/>
              <a:ahLst/>
              <a:cxnLst/>
              <a:rect l="l" t="t" r="r" b="b"/>
              <a:pathLst>
                <a:path w="12192000" h="640080">
                  <a:moveTo>
                    <a:pt x="12192000" y="0"/>
                  </a:moveTo>
                  <a:lnTo>
                    <a:pt x="0" y="0"/>
                  </a:lnTo>
                  <a:lnTo>
                    <a:pt x="0" y="639762"/>
                  </a:lnTo>
                  <a:lnTo>
                    <a:pt x="12192000" y="63976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3"/>
              <a:ext cx="12192000" cy="640080"/>
            </a:xfrm>
            <a:custGeom>
              <a:avLst/>
              <a:gdLst/>
              <a:ahLst/>
              <a:cxnLst/>
              <a:rect l="l" t="t" r="r" b="b"/>
              <a:pathLst>
                <a:path w="12192000" h="640080">
                  <a:moveTo>
                    <a:pt x="0" y="639762"/>
                  </a:moveTo>
                  <a:lnTo>
                    <a:pt x="12192000" y="63976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9762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5087" rIns="0" bIns="0" rtlCol="0">
            <a:spAutoFit/>
          </a:bodyPr>
          <a:lstStyle/>
          <a:p>
            <a:pPr marL="2076450">
              <a:lnSpc>
                <a:spcPct val="100000"/>
              </a:lnSpc>
              <a:spcBef>
                <a:spcPts val="95"/>
              </a:spcBef>
            </a:pPr>
            <a:r>
              <a:rPr dirty="0"/>
              <a:t>Objectives</a:t>
            </a:r>
            <a:r>
              <a:rPr spc="-65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spc="-10" dirty="0"/>
              <a:t>Project</a:t>
            </a: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512723"/>
            <a:ext cx="12191999" cy="3452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9525" y="-36170"/>
            <a:ext cx="12201525" cy="785495"/>
            <a:chOff x="-4762" y="-4711"/>
            <a:chExt cx="12201525" cy="785495"/>
          </a:xfrm>
        </p:grpSpPr>
        <p:sp>
          <p:nvSpPr>
            <p:cNvPr id="3" name="object 3"/>
            <p:cNvSpPr/>
            <p:nvPr/>
          </p:nvSpPr>
          <p:spPr>
            <a:xfrm>
              <a:off x="0" y="50"/>
              <a:ext cx="12192000" cy="775970"/>
            </a:xfrm>
            <a:custGeom>
              <a:avLst/>
              <a:gdLst/>
              <a:ahLst/>
              <a:cxnLst/>
              <a:rect l="l" t="t" r="r" b="b"/>
              <a:pathLst>
                <a:path w="12192000" h="775970">
                  <a:moveTo>
                    <a:pt x="12192000" y="0"/>
                  </a:moveTo>
                  <a:lnTo>
                    <a:pt x="0" y="0"/>
                  </a:lnTo>
                  <a:lnTo>
                    <a:pt x="0" y="775411"/>
                  </a:lnTo>
                  <a:lnTo>
                    <a:pt x="12192000" y="775411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50"/>
              <a:ext cx="12192000" cy="775970"/>
            </a:xfrm>
            <a:custGeom>
              <a:avLst/>
              <a:gdLst/>
              <a:ahLst/>
              <a:cxnLst/>
              <a:rect l="l" t="t" r="r" b="b"/>
              <a:pathLst>
                <a:path w="12192000" h="775970">
                  <a:moveTo>
                    <a:pt x="0" y="775411"/>
                  </a:moveTo>
                  <a:lnTo>
                    <a:pt x="12192000" y="775411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77541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337" rIns="0" bIns="0" rtlCol="0">
            <a:spAutoFit/>
          </a:bodyPr>
          <a:lstStyle/>
          <a:p>
            <a:pPr marL="328358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Flowchart</a:t>
            </a:r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2886" y="2074408"/>
            <a:ext cx="23532" cy="23200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58048" y="3778300"/>
            <a:ext cx="24220" cy="18491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EC9E5149-15A8-6A52-128E-2E397609F2F8}"/>
              </a:ext>
            </a:extLst>
          </p:cNvPr>
          <p:cNvSpPr txBox="1"/>
          <p:nvPr/>
        </p:nvSpPr>
        <p:spPr>
          <a:xfrm>
            <a:off x="1600200" y="882824"/>
            <a:ext cx="7782870" cy="59093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4"/>
            <a:r>
              <a:rPr lang="en-US" dirty="0"/>
              <a:t>			Webcam Input</a:t>
            </a:r>
          </a:p>
          <a:p>
            <a:pPr lvl="4"/>
            <a:endParaRPr lang="en-US" dirty="0"/>
          </a:p>
          <a:p>
            <a:pPr lvl="4"/>
            <a:r>
              <a:rPr lang="en-US" dirty="0"/>
              <a:t>	</a:t>
            </a:r>
          </a:p>
          <a:p>
            <a:pPr lvl="4"/>
            <a:r>
              <a:rPr lang="en-US" dirty="0"/>
              <a:t>	             BlazePose Detector (ROI Extraction)</a:t>
            </a:r>
          </a:p>
          <a:p>
            <a:pPr lvl="4"/>
            <a:endParaRPr lang="en-US" dirty="0"/>
          </a:p>
          <a:p>
            <a:pPr lvl="4"/>
            <a:r>
              <a:rPr lang="en-US" dirty="0"/>
              <a:t>    </a:t>
            </a:r>
          </a:p>
          <a:p>
            <a:pPr lvl="4"/>
            <a:r>
              <a:rPr lang="en-US" dirty="0"/>
              <a:t>        	  BlazePose Landmark Model (33 Body Landmark)</a:t>
            </a:r>
          </a:p>
          <a:p>
            <a:pPr lvl="4"/>
            <a:endParaRPr lang="en-US" dirty="0"/>
          </a:p>
          <a:p>
            <a:pPr lvl="4"/>
            <a:r>
              <a:rPr lang="en-US" dirty="0"/>
              <a:t>	</a:t>
            </a:r>
          </a:p>
          <a:p>
            <a:pPr lvl="4"/>
            <a:r>
              <a:rPr lang="en-US" dirty="0"/>
              <a:t>	               Geometric Feature Extraction :</a:t>
            </a:r>
          </a:p>
          <a:p>
            <a:pPr lvl="4"/>
            <a:r>
              <a:rPr lang="en-US" dirty="0"/>
              <a:t>		       - Elbow Angles</a:t>
            </a:r>
          </a:p>
          <a:p>
            <a:pPr lvl="4"/>
            <a:r>
              <a:rPr lang="en-US" dirty="0"/>
              <a:t>		       - Back Pose Alignment</a:t>
            </a:r>
          </a:p>
          <a:p>
            <a:pPr lvl="4"/>
            <a:r>
              <a:rPr lang="en-US" dirty="0"/>
              <a:t>		       - Eye Gaze</a:t>
            </a:r>
          </a:p>
          <a:p>
            <a:pPr lvl="4"/>
            <a:r>
              <a:rPr lang="en-US" dirty="0"/>
              <a:t>		       - Screen Distance</a:t>
            </a:r>
          </a:p>
          <a:p>
            <a:pPr lvl="4"/>
            <a:endParaRPr lang="en-US" dirty="0"/>
          </a:p>
          <a:p>
            <a:pPr lvl="4"/>
            <a:r>
              <a:rPr lang="en-US" dirty="0"/>
              <a:t>		</a:t>
            </a:r>
          </a:p>
          <a:p>
            <a:pPr lvl="4"/>
            <a:r>
              <a:rPr lang="en-US" dirty="0"/>
              <a:t>		          Posture Classification</a:t>
            </a:r>
          </a:p>
          <a:p>
            <a:pPr lvl="4"/>
            <a:endParaRPr lang="en-US" dirty="0"/>
          </a:p>
          <a:p>
            <a:pPr lvl="4"/>
            <a:r>
              <a:rPr lang="en-US" dirty="0"/>
              <a:t>	</a:t>
            </a:r>
          </a:p>
          <a:p>
            <a:pPr lvl="4"/>
            <a:r>
              <a:rPr lang="en-US" dirty="0"/>
              <a:t>	    Feedback System (Emoji Alerts + Rest Reminders)	</a:t>
            </a:r>
          </a:p>
          <a:p>
            <a:pPr lvl="4"/>
            <a:r>
              <a:rPr lang="en-US" dirty="0"/>
              <a:t>	 </a:t>
            </a:r>
            <a:endParaRPr lang="en-IN" dirty="0"/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900693FB-EC90-AFB9-B0D9-47A9A6E72522}"/>
              </a:ext>
            </a:extLst>
          </p:cNvPr>
          <p:cNvSpPr/>
          <p:nvPr/>
        </p:nvSpPr>
        <p:spPr>
          <a:xfrm rot="5400000">
            <a:off x="5300817" y="1422702"/>
            <a:ext cx="381000" cy="2286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8C673B85-1EE8-7CDA-D08B-0E813B1CA930}"/>
              </a:ext>
            </a:extLst>
          </p:cNvPr>
          <p:cNvSpPr/>
          <p:nvPr/>
        </p:nvSpPr>
        <p:spPr>
          <a:xfrm rot="5400000">
            <a:off x="5365955" y="2226945"/>
            <a:ext cx="381000" cy="2286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FC0676EC-E2DD-ED1E-6D96-A6301152AE9E}"/>
              </a:ext>
            </a:extLst>
          </p:cNvPr>
          <p:cNvSpPr/>
          <p:nvPr/>
        </p:nvSpPr>
        <p:spPr>
          <a:xfrm rot="5400000">
            <a:off x="5359810" y="3005010"/>
            <a:ext cx="381000" cy="2286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E3D46BAE-2D19-9586-A059-82FD95F4EC73}"/>
              </a:ext>
            </a:extLst>
          </p:cNvPr>
          <p:cNvSpPr/>
          <p:nvPr/>
        </p:nvSpPr>
        <p:spPr>
          <a:xfrm rot="5400000">
            <a:off x="5300817" y="4928410"/>
            <a:ext cx="381000" cy="2286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C00E3CC6-F33F-BA58-05A8-861C95398F38}"/>
              </a:ext>
            </a:extLst>
          </p:cNvPr>
          <p:cNvSpPr/>
          <p:nvPr/>
        </p:nvSpPr>
        <p:spPr>
          <a:xfrm rot="5400000">
            <a:off x="5300817" y="5803122"/>
            <a:ext cx="381000" cy="2286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762" y="-4711"/>
            <a:ext cx="12201525" cy="785495"/>
            <a:chOff x="-4762" y="-4711"/>
            <a:chExt cx="12201525" cy="785495"/>
          </a:xfrm>
        </p:grpSpPr>
        <p:sp>
          <p:nvSpPr>
            <p:cNvPr id="3" name="object 3"/>
            <p:cNvSpPr/>
            <p:nvPr/>
          </p:nvSpPr>
          <p:spPr>
            <a:xfrm>
              <a:off x="0" y="50"/>
              <a:ext cx="12192000" cy="775970"/>
            </a:xfrm>
            <a:custGeom>
              <a:avLst/>
              <a:gdLst/>
              <a:ahLst/>
              <a:cxnLst/>
              <a:rect l="l" t="t" r="r" b="b"/>
              <a:pathLst>
                <a:path w="12192000" h="775970">
                  <a:moveTo>
                    <a:pt x="12192000" y="0"/>
                  </a:moveTo>
                  <a:lnTo>
                    <a:pt x="0" y="0"/>
                  </a:lnTo>
                  <a:lnTo>
                    <a:pt x="0" y="775411"/>
                  </a:lnTo>
                  <a:lnTo>
                    <a:pt x="12192000" y="775411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50"/>
              <a:ext cx="12192000" cy="775970"/>
            </a:xfrm>
            <a:custGeom>
              <a:avLst/>
              <a:gdLst/>
              <a:ahLst/>
              <a:cxnLst/>
              <a:rect l="l" t="t" r="r" b="b"/>
              <a:pathLst>
                <a:path w="12192000" h="775970">
                  <a:moveTo>
                    <a:pt x="0" y="775411"/>
                  </a:moveTo>
                  <a:lnTo>
                    <a:pt x="12192000" y="775411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77541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337" rIns="0" bIns="0" rtlCol="0">
            <a:spAutoFit/>
          </a:bodyPr>
          <a:lstStyle/>
          <a:p>
            <a:pPr marL="2838450">
              <a:lnSpc>
                <a:spcPct val="100000"/>
              </a:lnSpc>
              <a:spcBef>
                <a:spcPts val="95"/>
              </a:spcBef>
            </a:pPr>
            <a:r>
              <a:rPr dirty="0"/>
              <a:t>Output</a:t>
            </a:r>
            <a:r>
              <a:rPr spc="-100" dirty="0"/>
              <a:t> </a:t>
            </a:r>
            <a:r>
              <a:rPr spc="-10" dirty="0"/>
              <a:t>Module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52621" y="2269896"/>
            <a:ext cx="3864102" cy="123885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52621" y="3726459"/>
            <a:ext cx="3864102" cy="123885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52621" y="903249"/>
            <a:ext cx="3864102" cy="123885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952621" y="5177967"/>
            <a:ext cx="3942715" cy="141947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762" y="-4711"/>
            <a:ext cx="12201525" cy="785495"/>
            <a:chOff x="-4762" y="-4711"/>
            <a:chExt cx="12201525" cy="785495"/>
          </a:xfrm>
        </p:grpSpPr>
        <p:sp>
          <p:nvSpPr>
            <p:cNvPr id="3" name="object 3"/>
            <p:cNvSpPr/>
            <p:nvPr/>
          </p:nvSpPr>
          <p:spPr>
            <a:xfrm>
              <a:off x="0" y="50"/>
              <a:ext cx="12192000" cy="775970"/>
            </a:xfrm>
            <a:custGeom>
              <a:avLst/>
              <a:gdLst/>
              <a:ahLst/>
              <a:cxnLst/>
              <a:rect l="l" t="t" r="r" b="b"/>
              <a:pathLst>
                <a:path w="12192000" h="775970">
                  <a:moveTo>
                    <a:pt x="12192000" y="0"/>
                  </a:moveTo>
                  <a:lnTo>
                    <a:pt x="0" y="0"/>
                  </a:lnTo>
                  <a:lnTo>
                    <a:pt x="0" y="775411"/>
                  </a:lnTo>
                  <a:lnTo>
                    <a:pt x="12192000" y="775411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50"/>
              <a:ext cx="12192000" cy="775970"/>
            </a:xfrm>
            <a:custGeom>
              <a:avLst/>
              <a:gdLst/>
              <a:ahLst/>
              <a:cxnLst/>
              <a:rect l="l" t="t" r="r" b="b"/>
              <a:pathLst>
                <a:path w="12192000" h="775970">
                  <a:moveTo>
                    <a:pt x="0" y="775411"/>
                  </a:moveTo>
                  <a:lnTo>
                    <a:pt x="12192000" y="775411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77541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5793" rIns="0" bIns="0" rtlCol="0">
            <a:spAutoFit/>
          </a:bodyPr>
          <a:lstStyle/>
          <a:p>
            <a:pPr marL="2451100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Real</a:t>
            </a:r>
            <a:r>
              <a:rPr sz="3200" spc="-25" dirty="0"/>
              <a:t> </a:t>
            </a:r>
            <a:r>
              <a:rPr sz="3200" dirty="0"/>
              <a:t>Life</a:t>
            </a:r>
            <a:r>
              <a:rPr sz="3200" spc="-5" dirty="0"/>
              <a:t> </a:t>
            </a:r>
            <a:r>
              <a:rPr sz="3200" spc="-10" dirty="0"/>
              <a:t>Examples</a:t>
            </a:r>
            <a:endParaRPr sz="320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35223" y="4719828"/>
            <a:ext cx="785622" cy="64084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48956" y="5085588"/>
            <a:ext cx="785622" cy="64084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868551" y="1500632"/>
            <a:ext cx="7429500" cy="5055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Example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1: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Work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Home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Professional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tabLst>
                <a:tab pos="1553845" algn="l"/>
              </a:tabLst>
            </a:pPr>
            <a:r>
              <a:rPr sz="2400" dirty="0">
                <a:latin typeface="Arial MT"/>
                <a:cs typeface="Arial MT"/>
              </a:rPr>
              <a:t>Scenario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:</a:t>
            </a:r>
            <a:r>
              <a:rPr sz="2400" dirty="0">
                <a:latin typeface="Arial MT"/>
                <a:cs typeface="Arial MT"/>
              </a:rPr>
              <a:t>	A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software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engineer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attending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online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meetings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daily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Problem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sits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too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close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laptop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→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causes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eye </a:t>
            </a:r>
            <a:r>
              <a:rPr sz="2400" dirty="0">
                <a:latin typeface="Arial MT"/>
                <a:cs typeface="Arial MT"/>
              </a:rPr>
              <a:t>strain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headaches.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How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SitSmart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Coach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Helps: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tabLst>
                <a:tab pos="1753235" algn="l"/>
              </a:tabLst>
            </a:pPr>
            <a:r>
              <a:rPr sz="2400" dirty="0">
                <a:latin typeface="Arial MT"/>
                <a:cs typeface="Arial MT"/>
              </a:rPr>
              <a:t>Popup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“</a:t>
            </a:r>
            <a:r>
              <a:rPr sz="2400" dirty="0">
                <a:latin typeface="Arial MT"/>
                <a:cs typeface="Arial MT"/>
              </a:rPr>
              <a:t>	Too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Close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(55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cm)”</a:t>
            </a:r>
            <a:endParaRPr sz="2400">
              <a:latin typeface="Arial MT"/>
              <a:cs typeface="Arial MT"/>
            </a:endParaRPr>
          </a:p>
          <a:p>
            <a:pPr marL="12700" marR="1457325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User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adjusts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position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→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Popup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changes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“ </a:t>
            </a:r>
            <a:r>
              <a:rPr sz="2400" dirty="0">
                <a:latin typeface="Arial MT"/>
                <a:cs typeface="Arial MT"/>
              </a:rPr>
              <a:t>Distance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OK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(75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cm)”.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2400" dirty="0">
                <a:latin typeface="Arial MT"/>
                <a:cs typeface="Arial MT"/>
              </a:rPr>
              <a:t>Result: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Reduced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eye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strain,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better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ergonomics</a:t>
            </a:r>
            <a:r>
              <a:rPr sz="1800" spc="-10" dirty="0"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762" y="-4711"/>
            <a:ext cx="12201525" cy="785495"/>
            <a:chOff x="-4762" y="-4711"/>
            <a:chExt cx="12201525" cy="785495"/>
          </a:xfrm>
        </p:grpSpPr>
        <p:sp>
          <p:nvSpPr>
            <p:cNvPr id="3" name="object 3"/>
            <p:cNvSpPr/>
            <p:nvPr/>
          </p:nvSpPr>
          <p:spPr>
            <a:xfrm>
              <a:off x="0" y="50"/>
              <a:ext cx="12192000" cy="775970"/>
            </a:xfrm>
            <a:custGeom>
              <a:avLst/>
              <a:gdLst/>
              <a:ahLst/>
              <a:cxnLst/>
              <a:rect l="l" t="t" r="r" b="b"/>
              <a:pathLst>
                <a:path w="12192000" h="775970">
                  <a:moveTo>
                    <a:pt x="12192000" y="0"/>
                  </a:moveTo>
                  <a:lnTo>
                    <a:pt x="0" y="0"/>
                  </a:lnTo>
                  <a:lnTo>
                    <a:pt x="0" y="775411"/>
                  </a:lnTo>
                  <a:lnTo>
                    <a:pt x="12192000" y="775411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50"/>
              <a:ext cx="12192000" cy="775970"/>
            </a:xfrm>
            <a:custGeom>
              <a:avLst/>
              <a:gdLst/>
              <a:ahLst/>
              <a:cxnLst/>
              <a:rect l="l" t="t" r="r" b="b"/>
              <a:pathLst>
                <a:path w="12192000" h="775970">
                  <a:moveTo>
                    <a:pt x="0" y="775411"/>
                  </a:moveTo>
                  <a:lnTo>
                    <a:pt x="12192000" y="775411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77541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5793" rIns="0" bIns="0" rtlCol="0">
            <a:spAutoFit/>
          </a:bodyPr>
          <a:lstStyle/>
          <a:p>
            <a:pPr marL="2451100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Real</a:t>
            </a:r>
            <a:r>
              <a:rPr sz="3200" spc="-25" dirty="0"/>
              <a:t> </a:t>
            </a:r>
            <a:r>
              <a:rPr sz="3200" dirty="0"/>
              <a:t>Life</a:t>
            </a:r>
            <a:r>
              <a:rPr sz="3200" spc="-5" dirty="0"/>
              <a:t> </a:t>
            </a:r>
            <a:r>
              <a:rPr sz="3200" spc="-10" dirty="0"/>
              <a:t>Examples</a:t>
            </a:r>
            <a:endParaRPr sz="320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1404" y="4719828"/>
            <a:ext cx="785621" cy="64084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25440" y="5085588"/>
            <a:ext cx="785622" cy="64084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868551" y="1500632"/>
            <a:ext cx="7414259" cy="5147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Example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2: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Student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Online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Classes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Scenario: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student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bends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elbows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too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much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while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typing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during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online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lectures.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Arial MT"/>
              <a:cs typeface="Arial MT"/>
            </a:endParaRPr>
          </a:p>
          <a:p>
            <a:pPr marL="12700" marR="37719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Problem: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Incorrect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elbow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angle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→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causes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wrist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pain </a:t>
            </a:r>
            <a:r>
              <a:rPr sz="2400" dirty="0">
                <a:latin typeface="Arial MT"/>
                <a:cs typeface="Arial MT"/>
              </a:rPr>
              <a:t>over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time.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How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SitSmart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Coach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Helps: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tabLst>
                <a:tab pos="1667510" algn="l"/>
              </a:tabLst>
            </a:pPr>
            <a:r>
              <a:rPr sz="2400" dirty="0">
                <a:latin typeface="Arial MT"/>
                <a:cs typeface="Arial MT"/>
              </a:rPr>
              <a:t>Popup: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“</a:t>
            </a:r>
            <a:r>
              <a:rPr sz="2400" dirty="0">
                <a:latin typeface="Arial MT"/>
                <a:cs typeface="Arial MT"/>
              </a:rPr>
              <a:t>	Adjust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Elbow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Angle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(135°)”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tabLst>
                <a:tab pos="4243705" algn="l"/>
              </a:tabLst>
            </a:pPr>
            <a:r>
              <a:rPr sz="2400" dirty="0">
                <a:latin typeface="Arial MT"/>
                <a:cs typeface="Arial MT"/>
              </a:rPr>
              <a:t>Student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adjusts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→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Popup: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“</a:t>
            </a:r>
            <a:r>
              <a:rPr sz="2400" dirty="0">
                <a:latin typeface="Arial MT"/>
                <a:cs typeface="Arial MT"/>
              </a:rPr>
              <a:t>	Elbow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Angle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OK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(95°)”.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Arial MT"/>
              <a:cs typeface="Arial MT"/>
            </a:endParaRPr>
          </a:p>
          <a:p>
            <a:pPr marL="12700" marR="107442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Result: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Student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learns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maintain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correct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desk </a:t>
            </a:r>
            <a:r>
              <a:rPr sz="2400" spc="-10" dirty="0">
                <a:latin typeface="Arial MT"/>
                <a:cs typeface="Arial MT"/>
              </a:rPr>
              <a:t>posture.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762" y="-4711"/>
            <a:ext cx="12201525" cy="785495"/>
            <a:chOff x="-4762" y="-4711"/>
            <a:chExt cx="12201525" cy="785495"/>
          </a:xfrm>
        </p:grpSpPr>
        <p:sp>
          <p:nvSpPr>
            <p:cNvPr id="3" name="object 3"/>
            <p:cNvSpPr/>
            <p:nvPr/>
          </p:nvSpPr>
          <p:spPr>
            <a:xfrm>
              <a:off x="0" y="50"/>
              <a:ext cx="12192000" cy="775970"/>
            </a:xfrm>
            <a:custGeom>
              <a:avLst/>
              <a:gdLst/>
              <a:ahLst/>
              <a:cxnLst/>
              <a:rect l="l" t="t" r="r" b="b"/>
              <a:pathLst>
                <a:path w="12192000" h="775970">
                  <a:moveTo>
                    <a:pt x="12192000" y="0"/>
                  </a:moveTo>
                  <a:lnTo>
                    <a:pt x="0" y="0"/>
                  </a:lnTo>
                  <a:lnTo>
                    <a:pt x="0" y="775411"/>
                  </a:lnTo>
                  <a:lnTo>
                    <a:pt x="12192000" y="775411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50"/>
              <a:ext cx="12192000" cy="775970"/>
            </a:xfrm>
            <a:custGeom>
              <a:avLst/>
              <a:gdLst/>
              <a:ahLst/>
              <a:cxnLst/>
              <a:rect l="l" t="t" r="r" b="b"/>
              <a:pathLst>
                <a:path w="12192000" h="775970">
                  <a:moveTo>
                    <a:pt x="0" y="775411"/>
                  </a:moveTo>
                  <a:lnTo>
                    <a:pt x="12192000" y="775411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77541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5793" rIns="0" bIns="0" rtlCol="0">
            <a:spAutoFit/>
          </a:bodyPr>
          <a:lstStyle/>
          <a:p>
            <a:pPr marL="2451100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Real</a:t>
            </a:r>
            <a:r>
              <a:rPr sz="3200" spc="-25" dirty="0"/>
              <a:t> </a:t>
            </a:r>
            <a:r>
              <a:rPr sz="3200" dirty="0"/>
              <a:t>Life</a:t>
            </a:r>
            <a:r>
              <a:rPr sz="3200" spc="-5" dirty="0"/>
              <a:t> </a:t>
            </a:r>
            <a:r>
              <a:rPr sz="3200" spc="-10" dirty="0"/>
              <a:t>Examples</a:t>
            </a:r>
            <a:endParaRPr sz="320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15511" y="4354067"/>
            <a:ext cx="785622" cy="64084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1904" y="4719828"/>
            <a:ext cx="785622" cy="64084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868551" y="1500632"/>
            <a:ext cx="6747509" cy="4781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Example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3: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Office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Employee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Losing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Focus.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Scenario: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employee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keeps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turning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head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away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during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work.</a:t>
            </a:r>
            <a:endParaRPr sz="2400">
              <a:latin typeface="Arial MT"/>
              <a:cs typeface="Arial MT"/>
            </a:endParaRPr>
          </a:p>
          <a:p>
            <a:pPr marL="12700" marR="19685">
              <a:lnSpc>
                <a:spcPts val="5760"/>
              </a:lnSpc>
              <a:spcBef>
                <a:spcPts val="675"/>
              </a:spcBef>
            </a:pPr>
            <a:r>
              <a:rPr sz="2400" dirty="0">
                <a:latin typeface="Arial MT"/>
                <a:cs typeface="Arial MT"/>
              </a:rPr>
              <a:t>Problem: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Lack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focus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→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decreased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productivity. </a:t>
            </a:r>
            <a:r>
              <a:rPr sz="2400" dirty="0">
                <a:latin typeface="Arial MT"/>
                <a:cs typeface="Arial MT"/>
              </a:rPr>
              <a:t>How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SitSmart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Coach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Helps: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ts val="2210"/>
              </a:lnSpc>
              <a:tabLst>
                <a:tab pos="2533015" algn="l"/>
              </a:tabLst>
            </a:pPr>
            <a:r>
              <a:rPr sz="2400" dirty="0">
                <a:latin typeface="Arial MT"/>
                <a:cs typeface="Arial MT"/>
              </a:rPr>
              <a:t>Popup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shows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“</a:t>
            </a:r>
            <a:r>
              <a:rPr sz="2400" dirty="0">
                <a:latin typeface="Arial MT"/>
                <a:cs typeface="Arial MT"/>
              </a:rPr>
              <a:t>	Looking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Left”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when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distracted.</a:t>
            </a:r>
            <a:endParaRPr sz="24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tabLst>
                <a:tab pos="5668645" algn="l"/>
              </a:tabLst>
            </a:pPr>
            <a:r>
              <a:rPr sz="2400" dirty="0">
                <a:latin typeface="Arial MT"/>
                <a:cs typeface="Arial MT"/>
              </a:rPr>
              <a:t>Reminds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employee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stay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centered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(“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Looking Center”)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Result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Reduce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back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pain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employees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9079" y="922477"/>
            <a:ext cx="7592059" cy="49669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240665" algn="l"/>
              </a:tabLst>
            </a:pPr>
            <a:r>
              <a:rPr sz="1700" b="1" dirty="0">
                <a:latin typeface="Calibri"/>
                <a:cs typeface="Calibri"/>
              </a:rPr>
              <a:t>Input:</a:t>
            </a:r>
            <a:r>
              <a:rPr sz="1700" b="1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Webcam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captures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upper</a:t>
            </a:r>
            <a:r>
              <a:rPr sz="1700" spc="-6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body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of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user.</a:t>
            </a:r>
            <a:endParaRPr sz="1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55"/>
              </a:spcBef>
              <a:buFont typeface="Wingdings"/>
              <a:buChar char=""/>
            </a:pPr>
            <a:endParaRPr sz="17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Font typeface="Wingdings"/>
              <a:buChar char=""/>
              <a:tabLst>
                <a:tab pos="240665" algn="l"/>
              </a:tabLst>
            </a:pPr>
            <a:r>
              <a:rPr sz="1700" b="1" dirty="0">
                <a:latin typeface="Calibri"/>
                <a:cs typeface="Calibri"/>
              </a:rPr>
              <a:t>Pose</a:t>
            </a:r>
            <a:r>
              <a:rPr sz="1700" b="1" spc="-55" dirty="0">
                <a:latin typeface="Calibri"/>
                <a:cs typeface="Calibri"/>
              </a:rPr>
              <a:t> </a:t>
            </a:r>
            <a:r>
              <a:rPr sz="1700" b="1" dirty="0">
                <a:latin typeface="Calibri"/>
                <a:cs typeface="Calibri"/>
              </a:rPr>
              <a:t>Detection:</a:t>
            </a:r>
            <a:r>
              <a:rPr sz="1700" b="1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MediaPipe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identifies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body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joints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like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shoulder,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elbow,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wrist.</a:t>
            </a:r>
            <a:endParaRPr sz="1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40"/>
              </a:spcBef>
              <a:buFont typeface="Wingdings"/>
              <a:buChar char=""/>
            </a:pPr>
            <a:endParaRPr sz="17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Font typeface="Wingdings"/>
              <a:buChar char=""/>
              <a:tabLst>
                <a:tab pos="240665" algn="l"/>
              </a:tabLst>
            </a:pPr>
            <a:r>
              <a:rPr sz="1700" b="1" dirty="0">
                <a:latin typeface="Calibri"/>
                <a:cs typeface="Calibri"/>
              </a:rPr>
              <a:t>Elbow</a:t>
            </a:r>
            <a:r>
              <a:rPr sz="1700" b="1" spc="-10" dirty="0">
                <a:latin typeface="Calibri"/>
                <a:cs typeface="Calibri"/>
              </a:rPr>
              <a:t> </a:t>
            </a:r>
            <a:r>
              <a:rPr sz="1700" b="1" dirty="0">
                <a:latin typeface="Calibri"/>
                <a:cs typeface="Calibri"/>
              </a:rPr>
              <a:t>Angle:</a:t>
            </a:r>
            <a:r>
              <a:rPr sz="1700" b="1" spc="-1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Angle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between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shoulder–elbow–wrist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is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calculated.</a:t>
            </a:r>
            <a:endParaRPr sz="1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55"/>
              </a:spcBef>
              <a:buFont typeface="Wingdings"/>
              <a:buChar char=""/>
            </a:pPr>
            <a:endParaRPr sz="17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Font typeface="Wingdings"/>
              <a:buChar char=""/>
              <a:tabLst>
                <a:tab pos="240665" algn="l"/>
              </a:tabLst>
            </a:pPr>
            <a:r>
              <a:rPr sz="1700" b="1" dirty="0">
                <a:latin typeface="Calibri"/>
                <a:cs typeface="Calibri"/>
              </a:rPr>
              <a:t>Distance</a:t>
            </a:r>
            <a:r>
              <a:rPr sz="1700" b="1" spc="-50" dirty="0">
                <a:latin typeface="Calibri"/>
                <a:cs typeface="Calibri"/>
              </a:rPr>
              <a:t> </a:t>
            </a:r>
            <a:r>
              <a:rPr sz="1700" b="1" dirty="0">
                <a:latin typeface="Calibri"/>
                <a:cs typeface="Calibri"/>
              </a:rPr>
              <a:t>Estimation:</a:t>
            </a:r>
            <a:r>
              <a:rPr sz="1700" b="1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Measures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shoulder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width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in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pixels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to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estimate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user’s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distance.</a:t>
            </a:r>
            <a:endParaRPr sz="1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50"/>
              </a:spcBef>
              <a:buFont typeface="Wingdings"/>
              <a:buChar char=""/>
            </a:pPr>
            <a:endParaRPr sz="17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240665" algn="l"/>
              </a:tabLst>
            </a:pPr>
            <a:r>
              <a:rPr sz="1700" b="1" dirty="0">
                <a:latin typeface="Calibri"/>
                <a:cs typeface="Calibri"/>
              </a:rPr>
              <a:t>Eye</a:t>
            </a:r>
            <a:r>
              <a:rPr sz="1700" b="1" spc="-30" dirty="0">
                <a:latin typeface="Calibri"/>
                <a:cs typeface="Calibri"/>
              </a:rPr>
              <a:t> </a:t>
            </a:r>
            <a:r>
              <a:rPr sz="1700" b="1" dirty="0">
                <a:latin typeface="Calibri"/>
                <a:cs typeface="Calibri"/>
              </a:rPr>
              <a:t>Gaze:</a:t>
            </a:r>
            <a:r>
              <a:rPr sz="1700" b="1" spc="-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Eye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landmarks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are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analyzed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for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gaze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direction.</a:t>
            </a:r>
            <a:endParaRPr sz="1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40"/>
              </a:spcBef>
              <a:buFont typeface="Wingdings"/>
              <a:buChar char=""/>
            </a:pPr>
            <a:endParaRPr sz="17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Font typeface="Wingdings"/>
              <a:buChar char=""/>
              <a:tabLst>
                <a:tab pos="240665" algn="l"/>
              </a:tabLst>
            </a:pPr>
            <a:r>
              <a:rPr sz="1700" b="1" dirty="0">
                <a:latin typeface="Calibri"/>
                <a:cs typeface="Calibri"/>
              </a:rPr>
              <a:t>Popup</a:t>
            </a:r>
            <a:r>
              <a:rPr sz="1700" b="1" spc="-35" dirty="0">
                <a:latin typeface="Calibri"/>
                <a:cs typeface="Calibri"/>
              </a:rPr>
              <a:t> </a:t>
            </a:r>
            <a:r>
              <a:rPr sz="1700" b="1" dirty="0">
                <a:latin typeface="Calibri"/>
                <a:cs typeface="Calibri"/>
              </a:rPr>
              <a:t>Alerts:</a:t>
            </a:r>
            <a:r>
              <a:rPr sz="1700" b="1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Tkinter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floating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window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shows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emoji-</a:t>
            </a:r>
            <a:r>
              <a:rPr sz="1700" dirty="0">
                <a:latin typeface="Calibri"/>
                <a:cs typeface="Calibri"/>
              </a:rPr>
              <a:t>based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messages.</a:t>
            </a:r>
            <a:endParaRPr sz="1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55"/>
              </a:spcBef>
              <a:buFont typeface="Wingdings"/>
              <a:buChar char=""/>
            </a:pPr>
            <a:endParaRPr sz="17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Font typeface="Wingdings"/>
              <a:buChar char=""/>
              <a:tabLst>
                <a:tab pos="240665" algn="l"/>
              </a:tabLst>
            </a:pPr>
            <a:r>
              <a:rPr sz="1700" b="1" dirty="0">
                <a:latin typeface="Calibri"/>
                <a:cs typeface="Calibri"/>
              </a:rPr>
              <a:t>Looping:</a:t>
            </a:r>
            <a:r>
              <a:rPr sz="1700" b="1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Continuous</a:t>
            </a:r>
            <a:r>
              <a:rPr sz="1700" spc="-8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real-time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analysis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without</a:t>
            </a:r>
            <a:r>
              <a:rPr sz="1700" spc="-6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interrupting</a:t>
            </a:r>
            <a:r>
              <a:rPr sz="1700" spc="-7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user.</a:t>
            </a:r>
            <a:endParaRPr sz="1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50"/>
              </a:spcBef>
              <a:buFont typeface="Wingdings"/>
              <a:buChar char=""/>
            </a:pPr>
            <a:endParaRPr sz="17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Font typeface="Wingdings"/>
              <a:buChar char=""/>
              <a:tabLst>
                <a:tab pos="240665" algn="l"/>
              </a:tabLst>
            </a:pPr>
            <a:r>
              <a:rPr sz="1700" b="1" dirty="0">
                <a:latin typeface="Calibri"/>
                <a:cs typeface="Calibri"/>
              </a:rPr>
              <a:t>Break</a:t>
            </a:r>
            <a:r>
              <a:rPr sz="1700" b="1" spc="-30" dirty="0">
                <a:latin typeface="Calibri"/>
                <a:cs typeface="Calibri"/>
              </a:rPr>
              <a:t> </a:t>
            </a:r>
            <a:r>
              <a:rPr sz="1700" b="1" dirty="0">
                <a:latin typeface="Calibri"/>
                <a:cs typeface="Calibri"/>
              </a:rPr>
              <a:t>Alerts:</a:t>
            </a:r>
            <a:r>
              <a:rPr sz="1700" b="1" spc="-40" dirty="0">
                <a:latin typeface="Calibri"/>
                <a:cs typeface="Calibri"/>
              </a:rPr>
              <a:t> </a:t>
            </a:r>
            <a:r>
              <a:rPr sz="1700" b="1" dirty="0">
                <a:latin typeface="Calibri"/>
                <a:cs typeface="Calibri"/>
              </a:rPr>
              <a:t>T</a:t>
            </a:r>
            <a:r>
              <a:rPr sz="1700" dirty="0">
                <a:latin typeface="Calibri"/>
                <a:cs typeface="Calibri"/>
              </a:rPr>
              <a:t>imer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of</a:t>
            </a:r>
            <a:r>
              <a:rPr sz="1700" spc="-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60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minutes</a:t>
            </a:r>
            <a:r>
              <a:rPr sz="1700" spc="3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is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added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to</a:t>
            </a:r>
            <a:r>
              <a:rPr sz="1700" spc="-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take</a:t>
            </a:r>
            <a:r>
              <a:rPr sz="1700" spc="-10" dirty="0">
                <a:latin typeface="Calibri"/>
                <a:cs typeface="Calibri"/>
              </a:rPr>
              <a:t> break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079" y="6271666"/>
            <a:ext cx="16541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240665" algn="l"/>
              </a:tabLst>
            </a:pPr>
            <a:r>
              <a:rPr sz="1700" b="1" dirty="0">
                <a:latin typeface="Calibri"/>
                <a:cs typeface="Calibri"/>
              </a:rPr>
              <a:t>Example</a:t>
            </a:r>
            <a:r>
              <a:rPr sz="1700" b="1" spc="-65" dirty="0">
                <a:latin typeface="Calibri"/>
                <a:cs typeface="Calibri"/>
              </a:rPr>
              <a:t> </a:t>
            </a:r>
            <a:r>
              <a:rPr sz="1700" b="1" spc="-10" dirty="0">
                <a:latin typeface="Calibri"/>
                <a:cs typeface="Calibri"/>
              </a:rPr>
              <a:t>Alerts:</a:t>
            </a:r>
            <a:endParaRPr sz="17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17420" y="6224015"/>
            <a:ext cx="557021" cy="45339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681477" y="6271666"/>
            <a:ext cx="12884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latin typeface="Calibri"/>
                <a:cs typeface="Calibri"/>
              </a:rPr>
              <a:t>Good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Posture,</a:t>
            </a:r>
            <a:endParaRPr sz="17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70959" y="6224015"/>
            <a:ext cx="557022" cy="45339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36796" y="6271666"/>
            <a:ext cx="129476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latin typeface="Calibri"/>
                <a:cs typeface="Calibri"/>
              </a:rPr>
              <a:t>Looking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Away,</a:t>
            </a:r>
            <a:endParaRPr sz="17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32120" y="6224015"/>
            <a:ext cx="557022" cy="45339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996685" y="6271666"/>
            <a:ext cx="1816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latin typeface="Calibri"/>
                <a:cs typeface="Calibri"/>
              </a:rPr>
              <a:t>Too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Close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to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Screen.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-4762" y="-4825"/>
            <a:ext cx="12201525" cy="690880"/>
            <a:chOff x="-4762" y="-4825"/>
            <a:chExt cx="12201525" cy="690880"/>
          </a:xfrm>
        </p:grpSpPr>
        <p:sp>
          <p:nvSpPr>
            <p:cNvPr id="11" name="object 11"/>
            <p:cNvSpPr/>
            <p:nvPr/>
          </p:nvSpPr>
          <p:spPr>
            <a:xfrm>
              <a:off x="0" y="-63"/>
              <a:ext cx="12192000" cy="681355"/>
            </a:xfrm>
            <a:custGeom>
              <a:avLst/>
              <a:gdLst/>
              <a:ahLst/>
              <a:cxnLst/>
              <a:rect l="l" t="t" r="r" b="b"/>
              <a:pathLst>
                <a:path w="12192000" h="681355">
                  <a:moveTo>
                    <a:pt x="12192000" y="0"/>
                  </a:moveTo>
                  <a:lnTo>
                    <a:pt x="0" y="0"/>
                  </a:lnTo>
                  <a:lnTo>
                    <a:pt x="0" y="681037"/>
                  </a:lnTo>
                  <a:lnTo>
                    <a:pt x="12192000" y="681037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-63"/>
              <a:ext cx="12192000" cy="681355"/>
            </a:xfrm>
            <a:custGeom>
              <a:avLst/>
              <a:gdLst/>
              <a:ahLst/>
              <a:cxnLst/>
              <a:rect l="l" t="t" r="r" b="b"/>
              <a:pathLst>
                <a:path w="12192000" h="681355">
                  <a:moveTo>
                    <a:pt x="0" y="681037"/>
                  </a:moveTo>
                  <a:lnTo>
                    <a:pt x="12192000" y="681037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8103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6949" rIns="0" bIns="0" rtlCol="0">
            <a:spAutoFit/>
          </a:bodyPr>
          <a:lstStyle/>
          <a:p>
            <a:pPr marL="1512570">
              <a:lnSpc>
                <a:spcPct val="100000"/>
              </a:lnSpc>
              <a:spcBef>
                <a:spcPts val="95"/>
              </a:spcBef>
            </a:pPr>
            <a:r>
              <a:rPr dirty="0"/>
              <a:t>Description</a:t>
            </a:r>
            <a:r>
              <a:rPr spc="-70" dirty="0"/>
              <a:t> </a:t>
            </a:r>
            <a:r>
              <a:rPr dirty="0"/>
              <a:t>of</a:t>
            </a:r>
            <a:r>
              <a:rPr spc="-90" dirty="0"/>
              <a:t> </a:t>
            </a:r>
            <a:r>
              <a:rPr spc="-10" dirty="0"/>
              <a:t>Project</a:t>
            </a:r>
            <a:r>
              <a:rPr spc="-150" dirty="0"/>
              <a:t> </a:t>
            </a:r>
            <a:r>
              <a:rPr spc="-10" dirty="0"/>
              <a:t>Working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762" y="-4699"/>
            <a:ext cx="12201525" cy="649605"/>
            <a:chOff x="-4762" y="-4699"/>
            <a:chExt cx="12201525" cy="649605"/>
          </a:xfrm>
        </p:grpSpPr>
        <p:sp>
          <p:nvSpPr>
            <p:cNvPr id="3" name="object 3"/>
            <p:cNvSpPr/>
            <p:nvPr/>
          </p:nvSpPr>
          <p:spPr>
            <a:xfrm>
              <a:off x="0" y="63"/>
              <a:ext cx="12192000" cy="640080"/>
            </a:xfrm>
            <a:custGeom>
              <a:avLst/>
              <a:gdLst/>
              <a:ahLst/>
              <a:cxnLst/>
              <a:rect l="l" t="t" r="r" b="b"/>
              <a:pathLst>
                <a:path w="12192000" h="640080">
                  <a:moveTo>
                    <a:pt x="12192000" y="0"/>
                  </a:moveTo>
                  <a:lnTo>
                    <a:pt x="0" y="0"/>
                  </a:lnTo>
                  <a:lnTo>
                    <a:pt x="0" y="639762"/>
                  </a:lnTo>
                  <a:lnTo>
                    <a:pt x="12192000" y="63976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3"/>
              <a:ext cx="12192000" cy="640080"/>
            </a:xfrm>
            <a:custGeom>
              <a:avLst/>
              <a:gdLst/>
              <a:ahLst/>
              <a:cxnLst/>
              <a:rect l="l" t="t" r="r" b="b"/>
              <a:pathLst>
                <a:path w="12192000" h="640080">
                  <a:moveTo>
                    <a:pt x="0" y="639762"/>
                  </a:moveTo>
                  <a:lnTo>
                    <a:pt x="12192000" y="63976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9762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903726" y="33350"/>
            <a:ext cx="4384040" cy="497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58160" algn="l"/>
              </a:tabLst>
            </a:pPr>
            <a:r>
              <a:rPr dirty="0"/>
              <a:t>Innovative</a:t>
            </a:r>
            <a:r>
              <a:rPr spc="-190" dirty="0"/>
              <a:t> </a:t>
            </a:r>
            <a:r>
              <a:rPr spc="-20" dirty="0"/>
              <a:t>Work</a:t>
            </a:r>
            <a:r>
              <a:rPr dirty="0"/>
              <a:t>	(</a:t>
            </a:r>
            <a:r>
              <a:rPr spc="-10" dirty="0"/>
              <a:t> </a:t>
            </a:r>
            <a:r>
              <a:rPr dirty="0"/>
              <a:t>if</a:t>
            </a:r>
            <a:r>
              <a:rPr spc="-20" dirty="0"/>
              <a:t> any)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512723"/>
            <a:ext cx="12191999" cy="34527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161694" y="1136980"/>
            <a:ext cx="8580755" cy="36849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4965" algn="l"/>
              </a:tabLst>
            </a:pPr>
            <a:r>
              <a:rPr sz="2000" dirty="0">
                <a:latin typeface="Arial MT"/>
                <a:cs typeface="Arial MT"/>
              </a:rPr>
              <a:t>Does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require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any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additional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hardware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–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works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laptop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webcam.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Wingdings"/>
              <a:buChar char=""/>
            </a:pPr>
            <a:endParaRPr sz="2000">
              <a:latin typeface="Arial MT"/>
              <a:cs typeface="Arial MT"/>
            </a:endParaRPr>
          </a:p>
          <a:p>
            <a:pPr marL="354965" marR="215900" indent="-342900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354965" algn="l"/>
              </a:tabLst>
            </a:pPr>
            <a:r>
              <a:rPr sz="2000" dirty="0">
                <a:latin typeface="Arial MT"/>
                <a:cs typeface="Arial MT"/>
              </a:rPr>
              <a:t>Combines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elbow,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eye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gaze,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distance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analysis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complete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posture monitoring.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Font typeface="Wingdings"/>
              <a:buChar char=""/>
            </a:pP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354965" algn="l"/>
              </a:tabLst>
            </a:pPr>
            <a:r>
              <a:rPr sz="2000" dirty="0">
                <a:latin typeface="Arial MT"/>
                <a:cs typeface="Arial MT"/>
              </a:rPr>
              <a:t>Uses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emojis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color-coded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text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keep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feedback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simple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friendly.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Wingdings"/>
              <a:buChar char=""/>
            </a:pP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"/>
              <a:tabLst>
                <a:tab pos="354965" algn="l"/>
              </a:tabLst>
            </a:pPr>
            <a:r>
              <a:rPr sz="2000" dirty="0">
                <a:latin typeface="Arial MT"/>
                <a:cs typeface="Arial MT"/>
              </a:rPr>
              <a:t>Designed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background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operation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–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unobtrusive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but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effective.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Wingdings"/>
              <a:buChar char=""/>
            </a:pP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"/>
              <a:tabLst>
                <a:tab pos="354965" algn="l"/>
              </a:tabLst>
            </a:pPr>
            <a:r>
              <a:rPr sz="2000" dirty="0">
                <a:latin typeface="Arial MT"/>
                <a:cs typeface="Arial MT"/>
              </a:rPr>
              <a:t>Lightweight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customizable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system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Tkinter.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Wingdings"/>
              <a:buChar char=""/>
            </a:pP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354965" algn="l"/>
              </a:tabLst>
            </a:pPr>
            <a:r>
              <a:rPr sz="2000" dirty="0">
                <a:latin typeface="Arial MT"/>
                <a:cs typeface="Arial MT"/>
              </a:rPr>
              <a:t>A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new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approach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integrates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vision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AI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into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everyday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wellness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routines.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2332" y="826008"/>
            <a:ext cx="654557" cy="53416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2332" y="1629155"/>
            <a:ext cx="654557" cy="53416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2332" y="2432304"/>
            <a:ext cx="654557" cy="53416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2332" y="3233927"/>
            <a:ext cx="654557" cy="53416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2332" y="4037076"/>
            <a:ext cx="654557" cy="53416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2332" y="4840223"/>
            <a:ext cx="654557" cy="53416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2332" y="5641847"/>
            <a:ext cx="654557" cy="53416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2332" y="6444995"/>
            <a:ext cx="654557" cy="412242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044955" y="882141"/>
            <a:ext cx="7288530" cy="59512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47700" indent="-635000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647700" algn="l"/>
              </a:tabLst>
            </a:pPr>
            <a:r>
              <a:rPr sz="2000" dirty="0">
                <a:latin typeface="Calibri"/>
                <a:cs typeface="Calibri"/>
              </a:rPr>
              <a:t>Elbow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angle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detection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dynamic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angle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alerts.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80"/>
              </a:spcBef>
              <a:buFont typeface="Wingdings"/>
              <a:buChar char=""/>
            </a:pPr>
            <a:endParaRPr sz="2000">
              <a:latin typeface="Calibri"/>
              <a:cs typeface="Calibri"/>
            </a:endParaRPr>
          </a:p>
          <a:p>
            <a:pPr marL="647700" indent="-635000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647700" algn="l"/>
              </a:tabLst>
            </a:pPr>
            <a:r>
              <a:rPr sz="2000" spc="-10" dirty="0">
                <a:latin typeface="Calibri"/>
                <a:cs typeface="Calibri"/>
              </a:rPr>
              <a:t>Real-</a:t>
            </a:r>
            <a:r>
              <a:rPr sz="2000" dirty="0">
                <a:latin typeface="Calibri"/>
                <a:cs typeface="Calibri"/>
              </a:rPr>
              <a:t>time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eye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gaze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detection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(left,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center,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right).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80"/>
              </a:spcBef>
              <a:buFont typeface="Wingdings"/>
              <a:buChar char=""/>
            </a:pPr>
            <a:endParaRPr sz="2000">
              <a:latin typeface="Calibri"/>
              <a:cs typeface="Calibri"/>
            </a:endParaRPr>
          </a:p>
          <a:p>
            <a:pPr marL="647700" indent="-635000">
              <a:lnSpc>
                <a:spcPct val="100000"/>
              </a:lnSpc>
              <a:buFont typeface="Wingdings"/>
              <a:buChar char=""/>
              <a:tabLst>
                <a:tab pos="647700" algn="l"/>
              </a:tabLst>
            </a:pPr>
            <a:r>
              <a:rPr sz="2000" dirty="0">
                <a:latin typeface="Calibri"/>
                <a:cs typeface="Calibri"/>
              </a:rPr>
              <a:t>Distance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estimation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using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shoulder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width.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70"/>
              </a:spcBef>
              <a:buFont typeface="Wingdings"/>
              <a:buChar char=""/>
            </a:pPr>
            <a:endParaRPr sz="2000">
              <a:latin typeface="Calibri"/>
              <a:cs typeface="Calibri"/>
            </a:endParaRPr>
          </a:p>
          <a:p>
            <a:pPr marL="647700" indent="-635000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647700" algn="l"/>
              </a:tabLst>
            </a:pPr>
            <a:r>
              <a:rPr sz="2000" dirty="0">
                <a:latin typeface="Calibri"/>
                <a:cs typeface="Calibri"/>
              </a:rPr>
              <a:t>Floating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popup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system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colored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emojis.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80"/>
              </a:spcBef>
              <a:buFont typeface="Wingdings"/>
              <a:buChar char=""/>
            </a:pPr>
            <a:endParaRPr sz="2000">
              <a:latin typeface="Calibri"/>
              <a:cs typeface="Calibri"/>
            </a:endParaRPr>
          </a:p>
          <a:p>
            <a:pPr marL="647700" indent="-635000">
              <a:lnSpc>
                <a:spcPct val="100000"/>
              </a:lnSpc>
              <a:buFont typeface="Wingdings"/>
              <a:buChar char=""/>
              <a:tabLst>
                <a:tab pos="647700" algn="l"/>
              </a:tabLst>
            </a:pPr>
            <a:r>
              <a:rPr sz="2000" dirty="0">
                <a:latin typeface="Calibri"/>
                <a:cs typeface="Calibri"/>
              </a:rPr>
              <a:t>Break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alert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notification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added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85"/>
              </a:spcBef>
              <a:buFont typeface="Wingdings"/>
              <a:buChar char=""/>
            </a:pPr>
            <a:endParaRPr sz="2000">
              <a:latin typeface="Calibri"/>
              <a:cs typeface="Calibri"/>
            </a:endParaRPr>
          </a:p>
          <a:p>
            <a:pPr marL="647700" indent="-635000">
              <a:lnSpc>
                <a:spcPct val="100000"/>
              </a:lnSpc>
              <a:buFont typeface="Wingdings"/>
              <a:buChar char=""/>
              <a:tabLst>
                <a:tab pos="647700" algn="l"/>
              </a:tabLst>
            </a:pPr>
            <a:r>
              <a:rPr sz="2000" spc="-10" dirty="0">
                <a:latin typeface="Calibri"/>
                <a:cs typeface="Calibri"/>
              </a:rPr>
              <a:t>Cross-</a:t>
            </a:r>
            <a:r>
              <a:rPr sz="2000" dirty="0">
                <a:latin typeface="Calibri"/>
                <a:cs typeface="Calibri"/>
              </a:rPr>
              <a:t>platform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testing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completed.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70"/>
              </a:spcBef>
              <a:buFont typeface="Wingdings"/>
              <a:buChar char=""/>
            </a:pPr>
            <a:endParaRPr sz="2000">
              <a:latin typeface="Calibri"/>
              <a:cs typeface="Calibri"/>
            </a:endParaRPr>
          </a:p>
          <a:p>
            <a:pPr marL="647700" indent="-635000">
              <a:lnSpc>
                <a:spcPct val="100000"/>
              </a:lnSpc>
              <a:buFont typeface="Wingdings"/>
              <a:buChar char=""/>
              <a:tabLst>
                <a:tab pos="647700" algn="l"/>
              </a:tabLst>
            </a:pPr>
            <a:r>
              <a:rPr sz="2000" dirty="0">
                <a:latin typeface="Calibri"/>
                <a:cs typeface="Calibri"/>
              </a:rPr>
              <a:t>Features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progress: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posture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score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tracking,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head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tilt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detection.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85"/>
              </a:spcBef>
              <a:buFont typeface="Wingdings"/>
              <a:buChar char=""/>
            </a:pPr>
            <a:endParaRPr sz="2000">
              <a:latin typeface="Calibri"/>
              <a:cs typeface="Calibri"/>
            </a:endParaRPr>
          </a:p>
          <a:p>
            <a:pPr marL="647700" indent="-635000">
              <a:lnSpc>
                <a:spcPct val="100000"/>
              </a:lnSpc>
              <a:buFont typeface="Wingdings"/>
              <a:buChar char=""/>
              <a:tabLst>
                <a:tab pos="647700" algn="l"/>
              </a:tabLst>
            </a:pPr>
            <a:r>
              <a:rPr sz="2000" dirty="0">
                <a:latin typeface="Calibri"/>
                <a:cs typeface="Calibri"/>
              </a:rPr>
              <a:t>Plan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add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auto-</a:t>
            </a:r>
            <a:r>
              <a:rPr sz="2000" dirty="0">
                <a:latin typeface="Calibri"/>
                <a:cs typeface="Calibri"/>
              </a:rPr>
              <a:t>logging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usage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analytics.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-4762" y="-4825"/>
            <a:ext cx="12201525" cy="690880"/>
            <a:chOff x="-4762" y="-4825"/>
            <a:chExt cx="12201525" cy="690880"/>
          </a:xfrm>
        </p:grpSpPr>
        <p:sp>
          <p:nvSpPr>
            <p:cNvPr id="12" name="object 12"/>
            <p:cNvSpPr/>
            <p:nvPr/>
          </p:nvSpPr>
          <p:spPr>
            <a:xfrm>
              <a:off x="0" y="-63"/>
              <a:ext cx="12192000" cy="681355"/>
            </a:xfrm>
            <a:custGeom>
              <a:avLst/>
              <a:gdLst/>
              <a:ahLst/>
              <a:cxnLst/>
              <a:rect l="l" t="t" r="r" b="b"/>
              <a:pathLst>
                <a:path w="12192000" h="681355">
                  <a:moveTo>
                    <a:pt x="12192000" y="0"/>
                  </a:moveTo>
                  <a:lnTo>
                    <a:pt x="0" y="0"/>
                  </a:lnTo>
                  <a:lnTo>
                    <a:pt x="0" y="681037"/>
                  </a:lnTo>
                  <a:lnTo>
                    <a:pt x="12192000" y="681037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-63"/>
              <a:ext cx="12192000" cy="681355"/>
            </a:xfrm>
            <a:custGeom>
              <a:avLst/>
              <a:gdLst/>
              <a:ahLst/>
              <a:cxnLst/>
              <a:rect l="l" t="t" r="r" b="b"/>
              <a:pathLst>
                <a:path w="12192000" h="681355">
                  <a:moveTo>
                    <a:pt x="0" y="681037"/>
                  </a:moveTo>
                  <a:lnTo>
                    <a:pt x="12192000" y="681037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8103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6093" rIns="0" bIns="0" rtlCol="0">
            <a:spAutoFit/>
          </a:bodyPr>
          <a:lstStyle/>
          <a:p>
            <a:pPr marL="2675255">
              <a:lnSpc>
                <a:spcPct val="100000"/>
              </a:lnSpc>
              <a:spcBef>
                <a:spcPts val="95"/>
              </a:spcBef>
            </a:pPr>
            <a:r>
              <a:rPr dirty="0"/>
              <a:t>Current</a:t>
            </a:r>
            <a:r>
              <a:rPr spc="-95" dirty="0"/>
              <a:t> </a:t>
            </a:r>
            <a:r>
              <a:rPr spc="-10" dirty="0"/>
              <a:t>Progress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762" y="-4699"/>
            <a:ext cx="12201525" cy="649605"/>
            <a:chOff x="-4762" y="-4699"/>
            <a:chExt cx="12201525" cy="649605"/>
          </a:xfrm>
        </p:grpSpPr>
        <p:sp>
          <p:nvSpPr>
            <p:cNvPr id="3" name="object 3"/>
            <p:cNvSpPr/>
            <p:nvPr/>
          </p:nvSpPr>
          <p:spPr>
            <a:xfrm>
              <a:off x="0" y="63"/>
              <a:ext cx="12192000" cy="640080"/>
            </a:xfrm>
            <a:custGeom>
              <a:avLst/>
              <a:gdLst/>
              <a:ahLst/>
              <a:cxnLst/>
              <a:rect l="l" t="t" r="r" b="b"/>
              <a:pathLst>
                <a:path w="12192000" h="640080">
                  <a:moveTo>
                    <a:pt x="12192000" y="0"/>
                  </a:moveTo>
                  <a:lnTo>
                    <a:pt x="0" y="0"/>
                  </a:lnTo>
                  <a:lnTo>
                    <a:pt x="0" y="639762"/>
                  </a:lnTo>
                  <a:lnTo>
                    <a:pt x="12192000" y="63976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3"/>
              <a:ext cx="12192000" cy="640080"/>
            </a:xfrm>
            <a:custGeom>
              <a:avLst/>
              <a:gdLst/>
              <a:ahLst/>
              <a:cxnLst/>
              <a:rect l="l" t="t" r="r" b="b"/>
              <a:pathLst>
                <a:path w="12192000" h="640080">
                  <a:moveTo>
                    <a:pt x="0" y="639762"/>
                  </a:moveTo>
                  <a:lnTo>
                    <a:pt x="12192000" y="63976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9762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5087" rIns="0" bIns="0" rtlCol="0">
            <a:spAutoFit/>
          </a:bodyPr>
          <a:lstStyle/>
          <a:p>
            <a:pPr marL="2463165">
              <a:lnSpc>
                <a:spcPct val="100000"/>
              </a:lnSpc>
              <a:spcBef>
                <a:spcPts val="95"/>
              </a:spcBef>
            </a:pPr>
            <a:r>
              <a:rPr dirty="0"/>
              <a:t>Result</a:t>
            </a:r>
            <a:r>
              <a:rPr spc="-50" dirty="0"/>
              <a:t> </a:t>
            </a:r>
            <a:r>
              <a:rPr dirty="0"/>
              <a:t>&amp;</a:t>
            </a:r>
            <a:r>
              <a:rPr spc="-75" dirty="0"/>
              <a:t> </a:t>
            </a:r>
            <a:r>
              <a:rPr spc="-10" dirty="0"/>
              <a:t>Discussion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512723"/>
            <a:ext cx="12191999" cy="34527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54786" y="1062989"/>
            <a:ext cx="7651750" cy="28301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4965" algn="l"/>
              </a:tabLst>
            </a:pPr>
            <a:r>
              <a:rPr sz="2000" dirty="0">
                <a:latin typeface="Arial MT"/>
                <a:cs typeface="Arial MT"/>
              </a:rPr>
              <a:t>Tool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runs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efficiently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laptops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without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slowing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down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other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tasks.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Font typeface="Wingdings"/>
              <a:buChar char=""/>
            </a:pP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354965" algn="l"/>
              </a:tabLst>
            </a:pPr>
            <a:r>
              <a:rPr sz="2000" spc="-10" dirty="0">
                <a:latin typeface="Arial MT"/>
                <a:cs typeface="Arial MT"/>
              </a:rPr>
              <a:t>Real-</a:t>
            </a:r>
            <a:r>
              <a:rPr sz="2000" dirty="0">
                <a:latin typeface="Arial MT"/>
                <a:cs typeface="Arial MT"/>
              </a:rPr>
              <a:t>time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feedback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accuracy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above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90%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controlled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lighting.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Wingdings"/>
              <a:buChar char=""/>
            </a:pP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"/>
              <a:tabLst>
                <a:tab pos="354965" algn="l"/>
              </a:tabLst>
            </a:pPr>
            <a:r>
              <a:rPr sz="2000" dirty="0">
                <a:latin typeface="Arial MT"/>
                <a:cs typeface="Arial MT"/>
              </a:rPr>
              <a:t>User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testing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shows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improved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sitting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habits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within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week.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Wingdings"/>
              <a:buChar char=""/>
            </a:pP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"/>
              <a:tabLst>
                <a:tab pos="354965" algn="l"/>
              </a:tabLst>
            </a:pPr>
            <a:r>
              <a:rPr sz="2000" dirty="0">
                <a:latin typeface="Arial MT"/>
                <a:cs typeface="Arial MT"/>
              </a:rPr>
              <a:t>Positive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feedback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from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testers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simplicity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effectiveness.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Font typeface="Wingdings"/>
              <a:buChar char=""/>
            </a:pP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354965" algn="l"/>
              </a:tabLst>
            </a:pPr>
            <a:r>
              <a:rPr sz="2000" dirty="0">
                <a:latin typeface="Arial MT"/>
                <a:cs typeface="Arial MT"/>
              </a:rPr>
              <a:t>Emojis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make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feedback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easy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understand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without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reading</a:t>
            </a:r>
            <a:r>
              <a:rPr sz="2400" spc="-10" dirty="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72404" y="3888524"/>
            <a:ext cx="6919595" cy="256971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512723"/>
            <a:ext cx="12191999" cy="345272"/>
          </a:xfrm>
          <a:prstGeom prst="rect">
            <a:avLst/>
          </a:prstGeom>
        </p:spPr>
      </p:pic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32790" y="1287144"/>
          <a:ext cx="10802620" cy="3965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83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16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5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072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73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40"/>
                        </a:spcBef>
                      </a:pPr>
                      <a:r>
                        <a:rPr sz="1800" b="1" spc="-40" dirty="0">
                          <a:latin typeface="Calibri"/>
                          <a:cs typeface="Calibri"/>
                        </a:rPr>
                        <a:t>Sr.</a:t>
                      </a:r>
                      <a:r>
                        <a:rPr sz="18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No.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82880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28575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43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Phase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81610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28575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43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Timeline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81610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28575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43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Tasks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81610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28575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8335">
                <a:tc>
                  <a:txBody>
                    <a:bodyPr/>
                    <a:lstStyle/>
                    <a:p>
                      <a:pPr marL="50800" algn="ctr">
                        <a:lnSpc>
                          <a:spcPct val="100000"/>
                        </a:lnSpc>
                        <a:spcBef>
                          <a:spcPts val="1365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1.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3355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28575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4471C4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Research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2085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28575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4471C4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Week</a:t>
                      </a:r>
                      <a:r>
                        <a:rPr sz="18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2085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28575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4471C4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Study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AI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tools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like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MediaPipe,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OpenCV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2085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28575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4471C4">
                        <a:alpha val="1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7385">
                <a:tc>
                  <a:txBody>
                    <a:bodyPr/>
                    <a:lstStyle/>
                    <a:p>
                      <a:pPr marL="50800" algn="ctr">
                        <a:lnSpc>
                          <a:spcPct val="100000"/>
                        </a:lnSpc>
                        <a:spcBef>
                          <a:spcPts val="1445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2.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83515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Design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82245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Week</a:t>
                      </a:r>
                      <a:r>
                        <a:rPr sz="18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82245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Plan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architecture,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popup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design,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feedback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logic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82245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7385">
                <a:tc>
                  <a:txBody>
                    <a:bodyPr/>
                    <a:lstStyle/>
                    <a:p>
                      <a:pPr marL="50800" algn="ctr">
                        <a:lnSpc>
                          <a:spcPct val="100000"/>
                        </a:lnSpc>
                        <a:spcBef>
                          <a:spcPts val="1445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3.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83515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4471C4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43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Development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81610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4471C4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43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Week</a:t>
                      </a:r>
                      <a:r>
                        <a:rPr sz="18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3–4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81610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4471C4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43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Implement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detection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logic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popup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feedback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81610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4471C4">
                        <a:alpha val="1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50800" algn="ctr">
                        <a:lnSpc>
                          <a:spcPct val="100000"/>
                        </a:lnSpc>
                        <a:spcBef>
                          <a:spcPts val="137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4.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3990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3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Testing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2720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36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Week</a:t>
                      </a:r>
                      <a:r>
                        <a:rPr sz="18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2720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36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User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trials,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error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fixing,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UI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tweaks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2720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7385">
                <a:tc>
                  <a:txBody>
                    <a:bodyPr/>
                    <a:lstStyle/>
                    <a:p>
                      <a:pPr marL="50800" algn="ctr">
                        <a:lnSpc>
                          <a:spcPct val="100000"/>
                        </a:lnSpc>
                        <a:spcBef>
                          <a:spcPts val="1445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5.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83515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4471C4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Finalization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82245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4471C4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Week</a:t>
                      </a:r>
                      <a:r>
                        <a:rPr sz="18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82245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4471C4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Documentation,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presentations,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packaging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82245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4471C4">
                        <a:alpha val="1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-4762" y="-4699"/>
            <a:ext cx="12201525" cy="649605"/>
            <a:chOff x="-4762" y="-4699"/>
            <a:chExt cx="12201525" cy="649605"/>
          </a:xfrm>
        </p:grpSpPr>
        <p:sp>
          <p:nvSpPr>
            <p:cNvPr id="5" name="object 5"/>
            <p:cNvSpPr/>
            <p:nvPr/>
          </p:nvSpPr>
          <p:spPr>
            <a:xfrm>
              <a:off x="0" y="63"/>
              <a:ext cx="12192000" cy="640080"/>
            </a:xfrm>
            <a:custGeom>
              <a:avLst/>
              <a:gdLst/>
              <a:ahLst/>
              <a:cxnLst/>
              <a:rect l="l" t="t" r="r" b="b"/>
              <a:pathLst>
                <a:path w="12192000" h="640080">
                  <a:moveTo>
                    <a:pt x="12192000" y="0"/>
                  </a:moveTo>
                  <a:lnTo>
                    <a:pt x="0" y="0"/>
                  </a:lnTo>
                  <a:lnTo>
                    <a:pt x="0" y="639762"/>
                  </a:lnTo>
                  <a:lnTo>
                    <a:pt x="12192000" y="63976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63"/>
              <a:ext cx="12192000" cy="640080"/>
            </a:xfrm>
            <a:custGeom>
              <a:avLst/>
              <a:gdLst/>
              <a:ahLst/>
              <a:cxnLst/>
              <a:rect l="l" t="t" r="r" b="b"/>
              <a:pathLst>
                <a:path w="12192000" h="640080">
                  <a:moveTo>
                    <a:pt x="0" y="639762"/>
                  </a:moveTo>
                  <a:lnTo>
                    <a:pt x="12192000" y="63976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9762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5087" rIns="0" bIns="0" rtlCol="0">
            <a:spAutoFit/>
          </a:bodyPr>
          <a:lstStyle/>
          <a:p>
            <a:pPr marL="3232785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Work</a:t>
            </a:r>
            <a:r>
              <a:rPr spc="-170" dirty="0"/>
              <a:t> </a:t>
            </a:r>
            <a:r>
              <a:rPr spc="-20" dirty="0"/>
              <a:t>Plan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762" y="-4699"/>
            <a:ext cx="12201525" cy="649605"/>
            <a:chOff x="-4762" y="-4699"/>
            <a:chExt cx="12201525" cy="649605"/>
          </a:xfrm>
        </p:grpSpPr>
        <p:sp>
          <p:nvSpPr>
            <p:cNvPr id="3" name="object 3"/>
            <p:cNvSpPr/>
            <p:nvPr/>
          </p:nvSpPr>
          <p:spPr>
            <a:xfrm>
              <a:off x="0" y="63"/>
              <a:ext cx="12192000" cy="640080"/>
            </a:xfrm>
            <a:custGeom>
              <a:avLst/>
              <a:gdLst/>
              <a:ahLst/>
              <a:cxnLst/>
              <a:rect l="l" t="t" r="r" b="b"/>
              <a:pathLst>
                <a:path w="12192000" h="640080">
                  <a:moveTo>
                    <a:pt x="12192000" y="0"/>
                  </a:moveTo>
                  <a:lnTo>
                    <a:pt x="0" y="0"/>
                  </a:lnTo>
                  <a:lnTo>
                    <a:pt x="0" y="639762"/>
                  </a:lnTo>
                  <a:lnTo>
                    <a:pt x="12192000" y="63976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3"/>
              <a:ext cx="12192000" cy="640080"/>
            </a:xfrm>
            <a:custGeom>
              <a:avLst/>
              <a:gdLst/>
              <a:ahLst/>
              <a:cxnLst/>
              <a:rect l="l" t="t" r="r" b="b"/>
              <a:pathLst>
                <a:path w="12192000" h="640080">
                  <a:moveTo>
                    <a:pt x="0" y="639762"/>
                  </a:moveTo>
                  <a:lnTo>
                    <a:pt x="12192000" y="63976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9762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5943" rIns="0" bIns="0" rtlCol="0">
            <a:spAutoFit/>
          </a:bodyPr>
          <a:lstStyle/>
          <a:p>
            <a:pPr marL="1821814">
              <a:lnSpc>
                <a:spcPct val="100000"/>
              </a:lnSpc>
              <a:spcBef>
                <a:spcPts val="95"/>
              </a:spcBef>
            </a:pPr>
            <a:r>
              <a:rPr dirty="0"/>
              <a:t>Conclusion</a:t>
            </a:r>
            <a:r>
              <a:rPr spc="-85" dirty="0"/>
              <a:t> </a:t>
            </a:r>
            <a:r>
              <a:rPr dirty="0"/>
              <a:t>&amp;</a:t>
            </a:r>
            <a:r>
              <a:rPr spc="-110" dirty="0"/>
              <a:t> </a:t>
            </a:r>
            <a:r>
              <a:rPr dirty="0"/>
              <a:t>Future</a:t>
            </a:r>
            <a:r>
              <a:rPr spc="-110" dirty="0"/>
              <a:t> </a:t>
            </a:r>
            <a:r>
              <a:rPr spc="-10" dirty="0"/>
              <a:t>Scope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512723"/>
            <a:ext cx="12191999" cy="34527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283588" y="1320164"/>
            <a:ext cx="8159750" cy="3379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4965" algn="l"/>
              </a:tabLst>
            </a:pPr>
            <a:r>
              <a:rPr sz="2000" dirty="0">
                <a:latin typeface="Arial MT"/>
                <a:cs typeface="Arial MT"/>
              </a:rPr>
              <a:t>SitSmart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Coach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smart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AI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solution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improving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sitting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posture.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Font typeface="Wingdings"/>
              <a:buChar char=""/>
            </a:pP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354965" algn="l"/>
              </a:tabLst>
            </a:pPr>
            <a:r>
              <a:rPr sz="2000" dirty="0">
                <a:latin typeface="Arial MT"/>
                <a:cs typeface="Arial MT"/>
              </a:rPr>
              <a:t>Uses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real-</a:t>
            </a:r>
            <a:r>
              <a:rPr sz="2000" dirty="0">
                <a:latin typeface="Arial MT"/>
                <a:cs typeface="Arial MT"/>
              </a:rPr>
              <a:t>time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computer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vision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elbow,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eye,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distance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analysis.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Font typeface="Wingdings"/>
              <a:buChar char=""/>
            </a:pP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354965" algn="l"/>
              </a:tabLst>
            </a:pPr>
            <a:r>
              <a:rPr sz="2000" dirty="0">
                <a:latin typeface="Arial MT"/>
                <a:cs typeface="Arial MT"/>
              </a:rPr>
              <a:t>Designed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students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professionals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using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laptops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long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hours.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Wingdings"/>
              <a:buChar char=""/>
            </a:pP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"/>
              <a:tabLst>
                <a:tab pos="354965" algn="l"/>
              </a:tabLst>
            </a:pPr>
            <a:r>
              <a:rPr sz="2000" dirty="0">
                <a:latin typeface="Arial MT"/>
                <a:cs typeface="Arial MT"/>
              </a:rPr>
              <a:t>No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wearables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sensors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–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just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software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webcam.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Wingdings"/>
              <a:buChar char=""/>
            </a:pP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"/>
              <a:tabLst>
                <a:tab pos="354965" algn="l"/>
              </a:tabLst>
            </a:pPr>
            <a:r>
              <a:rPr sz="2000" dirty="0">
                <a:latin typeface="Arial MT"/>
                <a:cs typeface="Arial MT"/>
              </a:rPr>
              <a:t>Visually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engaging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feedback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makes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easy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adopt.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Wingdings"/>
              <a:buChar char=""/>
            </a:pP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"/>
              <a:tabLst>
                <a:tab pos="354965" algn="l"/>
              </a:tabLst>
            </a:pPr>
            <a:r>
              <a:rPr sz="2000" dirty="0">
                <a:latin typeface="Arial MT"/>
                <a:cs typeface="Arial MT"/>
              </a:rPr>
              <a:t>Ready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further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enhancements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real-</a:t>
            </a:r>
            <a:r>
              <a:rPr sz="2000" dirty="0">
                <a:latin typeface="Arial MT"/>
                <a:cs typeface="Arial MT"/>
              </a:rPr>
              <a:t>world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deployment.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-4762" y="-4762"/>
            <a:ext cx="12201525" cy="25400"/>
            <a:chOff x="-4762" y="-4762"/>
            <a:chExt cx="12201525" cy="25400"/>
          </a:xfrm>
        </p:grpSpPr>
        <p:sp>
          <p:nvSpPr>
            <p:cNvPr id="9" name="object 9"/>
            <p:cNvSpPr/>
            <p:nvPr/>
          </p:nvSpPr>
          <p:spPr>
            <a:xfrm>
              <a:off x="0" y="0"/>
              <a:ext cx="12192000" cy="15875"/>
            </a:xfrm>
            <a:custGeom>
              <a:avLst/>
              <a:gdLst/>
              <a:ahLst/>
              <a:cxnLst/>
              <a:rect l="l" t="t" r="r" b="b"/>
              <a:pathLst>
                <a:path w="12192000" h="15875">
                  <a:moveTo>
                    <a:pt x="12192000" y="0"/>
                  </a:moveTo>
                  <a:lnTo>
                    <a:pt x="0" y="0"/>
                  </a:lnTo>
                  <a:lnTo>
                    <a:pt x="0" y="15875"/>
                  </a:lnTo>
                  <a:lnTo>
                    <a:pt x="12192000" y="15875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0"/>
              <a:ext cx="12192000" cy="15875"/>
            </a:xfrm>
            <a:custGeom>
              <a:avLst/>
              <a:gdLst/>
              <a:ahLst/>
              <a:cxnLst/>
              <a:rect l="l" t="t" r="r" b="b"/>
              <a:pathLst>
                <a:path w="12192000" h="15875">
                  <a:moveTo>
                    <a:pt x="0" y="15875"/>
                  </a:moveTo>
                  <a:lnTo>
                    <a:pt x="12192000" y="15875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158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762" y="-4699"/>
            <a:ext cx="12201525" cy="649605"/>
            <a:chOff x="-4762" y="-4699"/>
            <a:chExt cx="12201525" cy="649605"/>
          </a:xfrm>
        </p:grpSpPr>
        <p:sp>
          <p:nvSpPr>
            <p:cNvPr id="3" name="object 3"/>
            <p:cNvSpPr/>
            <p:nvPr/>
          </p:nvSpPr>
          <p:spPr>
            <a:xfrm>
              <a:off x="0" y="63"/>
              <a:ext cx="12192000" cy="640080"/>
            </a:xfrm>
            <a:custGeom>
              <a:avLst/>
              <a:gdLst/>
              <a:ahLst/>
              <a:cxnLst/>
              <a:rect l="l" t="t" r="r" b="b"/>
              <a:pathLst>
                <a:path w="12192000" h="640080">
                  <a:moveTo>
                    <a:pt x="12192000" y="0"/>
                  </a:moveTo>
                  <a:lnTo>
                    <a:pt x="0" y="0"/>
                  </a:lnTo>
                  <a:lnTo>
                    <a:pt x="0" y="639762"/>
                  </a:lnTo>
                  <a:lnTo>
                    <a:pt x="12192000" y="63976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3"/>
              <a:ext cx="12192000" cy="640080"/>
            </a:xfrm>
            <a:custGeom>
              <a:avLst/>
              <a:gdLst/>
              <a:ahLst/>
              <a:cxnLst/>
              <a:rect l="l" t="t" r="r" b="b"/>
              <a:pathLst>
                <a:path w="12192000" h="640080">
                  <a:moveTo>
                    <a:pt x="0" y="639762"/>
                  </a:moveTo>
                  <a:lnTo>
                    <a:pt x="12192000" y="63976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9762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5087" rIns="0" bIns="0" rtlCol="0">
            <a:spAutoFit/>
          </a:bodyPr>
          <a:lstStyle/>
          <a:p>
            <a:pPr marL="322834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References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8739" y="801751"/>
            <a:ext cx="11786870" cy="4265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List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10" dirty="0">
                <a:latin typeface="Times New Roman"/>
                <a:cs typeface="Times New Roman"/>
              </a:rPr>
              <a:t> papers/books/websites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etc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refer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 </a:t>
            </a:r>
            <a:r>
              <a:rPr sz="1800" spc="-10" dirty="0">
                <a:latin typeface="Times New Roman"/>
                <a:cs typeface="Times New Roman"/>
              </a:rPr>
              <a:t>project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b="1" dirty="0">
                <a:latin typeface="Arial"/>
                <a:cs typeface="Arial"/>
              </a:rPr>
              <a:t>Tlili,</a:t>
            </a:r>
            <a:r>
              <a:rPr sz="1600" b="1" spc="-1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F.,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Haddad,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R.,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Bouallegue,</a:t>
            </a:r>
            <a:r>
              <a:rPr sz="1600" b="1" spc="-1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R.,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Shubair,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R.</a:t>
            </a:r>
            <a:r>
              <a:rPr sz="1600" dirty="0">
                <a:latin typeface="Arial MT"/>
                <a:cs typeface="Arial MT"/>
              </a:rPr>
              <a:t>,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Machine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Learning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Algorithms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Application</a:t>
            </a:r>
            <a:r>
              <a:rPr sz="1600" spc="-7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For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Proposed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Sitting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Posture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Arial MT"/>
                <a:cs typeface="Arial MT"/>
              </a:rPr>
              <a:t>Monitoring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System, </a:t>
            </a:r>
            <a:r>
              <a:rPr sz="1600" i="1" dirty="0">
                <a:latin typeface="Arial"/>
                <a:cs typeface="Arial"/>
              </a:rPr>
              <a:t>Procedia</a:t>
            </a:r>
            <a:r>
              <a:rPr sz="1600" i="1" spc="-40" dirty="0">
                <a:latin typeface="Arial"/>
                <a:cs typeface="Arial"/>
              </a:rPr>
              <a:t> </a:t>
            </a:r>
            <a:r>
              <a:rPr sz="1600" i="1" dirty="0">
                <a:latin typeface="Arial"/>
                <a:cs typeface="Arial"/>
              </a:rPr>
              <a:t>Comput.</a:t>
            </a:r>
            <a:r>
              <a:rPr sz="1600" i="1" spc="-20" dirty="0">
                <a:latin typeface="Arial"/>
                <a:cs typeface="Arial"/>
              </a:rPr>
              <a:t> </a:t>
            </a:r>
            <a:r>
              <a:rPr sz="1600" i="1" dirty="0">
                <a:latin typeface="Arial"/>
                <a:cs typeface="Arial"/>
              </a:rPr>
              <a:t>Sci.</a:t>
            </a:r>
            <a:r>
              <a:rPr sz="1600" i="1" spc="-2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203</a:t>
            </a:r>
            <a:r>
              <a:rPr sz="1600" b="1" spc="-40" dirty="0">
                <a:latin typeface="Arial"/>
                <a:cs typeface="Arial"/>
              </a:rPr>
              <a:t> </a:t>
            </a:r>
            <a:r>
              <a:rPr sz="1600" dirty="0">
                <a:latin typeface="Arial MT"/>
                <a:cs typeface="Arial MT"/>
              </a:rPr>
              <a:t>(2022)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239–246.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 MT"/>
                <a:cs typeface="Arial MT"/>
                <a:hlinkClick r:id="rId2"/>
              </a:rPr>
              <a:t>https://doi.org/10.1016/j.procs</a:t>
            </a:r>
            <a:r>
              <a:rPr sz="16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 MT"/>
                <a:cs typeface="Arial MT"/>
              </a:rPr>
              <a:t>.</a:t>
            </a:r>
            <a:r>
              <a:rPr sz="16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 MT"/>
                <a:cs typeface="Arial MT"/>
                <a:hlinkClick r:id="rId2"/>
              </a:rPr>
              <a:t>2022.07.031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600">
              <a:latin typeface="Arial MT"/>
              <a:cs typeface="Arial MT"/>
            </a:endParaRPr>
          </a:p>
          <a:p>
            <a:pPr marL="12700" marR="180340">
              <a:lnSpc>
                <a:spcPct val="100000"/>
              </a:lnSpc>
            </a:pPr>
            <a:r>
              <a:rPr sz="1600" b="1" dirty="0">
                <a:latin typeface="Arial"/>
                <a:cs typeface="Arial"/>
              </a:rPr>
              <a:t>Jin,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H.,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He,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X.,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Wang,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L.,</a:t>
            </a:r>
            <a:r>
              <a:rPr sz="1600" b="1" spc="-1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Zhu,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Y.,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Jiang,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W.,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Zhou,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X.</a:t>
            </a:r>
            <a:r>
              <a:rPr sz="1600" dirty="0">
                <a:latin typeface="Arial MT"/>
                <a:cs typeface="Arial MT"/>
              </a:rPr>
              <a:t>,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SitPose: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Real-</a:t>
            </a:r>
            <a:r>
              <a:rPr sz="1600" dirty="0">
                <a:latin typeface="Arial MT"/>
                <a:cs typeface="Arial MT"/>
              </a:rPr>
              <a:t>Time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Detection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Sitting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Posture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Sedentary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Behavior </a:t>
            </a:r>
            <a:r>
              <a:rPr sz="1600" dirty="0">
                <a:latin typeface="Arial MT"/>
                <a:cs typeface="Arial MT"/>
              </a:rPr>
              <a:t>Using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Ensemble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Learning,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i="1" dirty="0">
                <a:latin typeface="Arial"/>
                <a:cs typeface="Arial"/>
              </a:rPr>
              <a:t>arXiv</a:t>
            </a:r>
            <a:r>
              <a:rPr sz="1600" i="1" spc="-30" dirty="0">
                <a:latin typeface="Arial"/>
                <a:cs typeface="Arial"/>
              </a:rPr>
              <a:t> </a:t>
            </a:r>
            <a:r>
              <a:rPr sz="1600" i="1" dirty="0">
                <a:latin typeface="Arial"/>
                <a:cs typeface="Arial"/>
              </a:rPr>
              <a:t>preprint</a:t>
            </a:r>
            <a:r>
              <a:rPr sz="1600" i="1" spc="-15" dirty="0">
                <a:latin typeface="Arial"/>
                <a:cs typeface="Arial"/>
              </a:rPr>
              <a:t> </a:t>
            </a:r>
            <a:r>
              <a:rPr sz="1600" spc="-10" dirty="0">
                <a:latin typeface="Arial MT"/>
                <a:cs typeface="Arial MT"/>
              </a:rPr>
              <a:t>arXiv:2412.12216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(2024). </a:t>
            </a:r>
            <a:r>
              <a:rPr sz="16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 MT"/>
                <a:cs typeface="Arial MT"/>
                <a:hlinkClick r:id="rId3"/>
              </a:rPr>
              <a:t>https://arxiv.org/abs/2412.12216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600" b="1" dirty="0">
                <a:latin typeface="Arial"/>
                <a:cs typeface="Arial"/>
              </a:rPr>
              <a:t>Zhao,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L.,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Wang,</a:t>
            </a:r>
            <a:r>
              <a:rPr sz="1600" b="1" spc="-1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Y.,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Huang,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Z.,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He,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M.,</a:t>
            </a:r>
            <a:r>
              <a:rPr sz="1600" b="1" spc="-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Wu,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L.</a:t>
            </a:r>
            <a:r>
              <a:rPr sz="1600" dirty="0">
                <a:latin typeface="Arial MT"/>
                <a:cs typeface="Arial MT"/>
              </a:rPr>
              <a:t>,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Comparative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Study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on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Real-</a:t>
            </a:r>
            <a:r>
              <a:rPr sz="1600" dirty="0">
                <a:latin typeface="Arial MT"/>
                <a:cs typeface="Arial MT"/>
              </a:rPr>
              <a:t>Time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Sitting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Posture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Monitoring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Systems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Using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Arial MT"/>
                <a:cs typeface="Arial MT"/>
              </a:rPr>
              <a:t>Pressure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Sensors,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i="1" dirty="0">
                <a:latin typeface="Arial"/>
                <a:cs typeface="Arial"/>
              </a:rPr>
              <a:t>J. Electr.</a:t>
            </a:r>
            <a:r>
              <a:rPr sz="1600" i="1" spc="-5" dirty="0">
                <a:latin typeface="Arial"/>
                <a:cs typeface="Arial"/>
              </a:rPr>
              <a:t> </a:t>
            </a:r>
            <a:r>
              <a:rPr sz="1600" i="1" dirty="0">
                <a:latin typeface="Arial"/>
                <a:cs typeface="Arial"/>
              </a:rPr>
              <a:t>Eng.</a:t>
            </a:r>
            <a:r>
              <a:rPr sz="1600" i="1" spc="-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74</a:t>
            </a:r>
            <a:r>
              <a:rPr sz="1600" dirty="0">
                <a:latin typeface="Arial MT"/>
                <a:cs typeface="Arial MT"/>
              </a:rPr>
              <a:t>(6)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(2023)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474–484.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 MT"/>
                <a:cs typeface="Arial MT"/>
                <a:hlinkClick r:id="rId4"/>
              </a:rPr>
              <a:t>https://sciendo.com/article/10.2478/jee-2023-</a:t>
            </a:r>
            <a:r>
              <a:rPr sz="1600" u="sng" spc="-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 MT"/>
                <a:cs typeface="Arial MT"/>
                <a:hlinkClick r:id="rId4"/>
              </a:rPr>
              <a:t>0055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6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1600" b="1" dirty="0">
                <a:latin typeface="Arial"/>
                <a:cs typeface="Arial"/>
              </a:rPr>
              <a:t>Tej,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K.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V.,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Krishna,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M.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M.,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Kumar,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K.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S.,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Kumar,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T.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K.</a:t>
            </a:r>
            <a:r>
              <a:rPr sz="1600" dirty="0">
                <a:latin typeface="Arial MT"/>
                <a:cs typeface="Arial MT"/>
              </a:rPr>
              <a:t>,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Intelligent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Posture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Assessment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Using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Machine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Learning,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i="1" dirty="0">
                <a:latin typeface="Arial"/>
                <a:cs typeface="Arial"/>
              </a:rPr>
              <a:t>J.</a:t>
            </a:r>
            <a:r>
              <a:rPr sz="1600" i="1" spc="-25" dirty="0">
                <a:latin typeface="Arial"/>
                <a:cs typeface="Arial"/>
              </a:rPr>
              <a:t> </a:t>
            </a:r>
            <a:r>
              <a:rPr sz="1600" i="1" dirty="0">
                <a:latin typeface="Arial"/>
                <a:cs typeface="Arial"/>
              </a:rPr>
              <a:t>Comput.</a:t>
            </a:r>
            <a:r>
              <a:rPr sz="1600" i="1" spc="-5" dirty="0">
                <a:latin typeface="Arial"/>
                <a:cs typeface="Arial"/>
              </a:rPr>
              <a:t> </a:t>
            </a:r>
            <a:r>
              <a:rPr sz="1600" i="1" spc="-10" dirty="0">
                <a:latin typeface="Arial"/>
                <a:cs typeface="Arial"/>
              </a:rPr>
              <a:t>Anal. </a:t>
            </a:r>
            <a:r>
              <a:rPr sz="1600" i="1" dirty="0">
                <a:latin typeface="Arial"/>
                <a:cs typeface="Arial"/>
              </a:rPr>
              <a:t>Appl.</a:t>
            </a:r>
            <a:r>
              <a:rPr sz="1600" i="1" spc="-2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33</a:t>
            </a:r>
            <a:r>
              <a:rPr sz="1600" dirty="0">
                <a:latin typeface="Arial MT"/>
                <a:cs typeface="Arial MT"/>
              </a:rPr>
              <a:t>(6)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(2024)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722–726</a:t>
            </a:r>
            <a:r>
              <a:rPr sz="1600" u="heavy" spc="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u="sng" spc="-10" dirty="0">
                <a:solidFill>
                  <a:srgbClr val="2D75B6"/>
                </a:solidFill>
                <a:uFill>
                  <a:solidFill>
                    <a:srgbClr val="2D75B6"/>
                  </a:solidFill>
                </a:uFill>
                <a:latin typeface="Arial MT"/>
                <a:cs typeface="Arial MT"/>
              </a:rPr>
              <a:t>phhttps://eudoxuspress.com/index.p/pub/article/view/2209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600">
              <a:latin typeface="Arial MT"/>
              <a:cs typeface="Arial MT"/>
            </a:endParaRPr>
          </a:p>
          <a:p>
            <a:pPr marL="12700" marR="368300">
              <a:lnSpc>
                <a:spcPct val="100000"/>
              </a:lnSpc>
            </a:pPr>
            <a:r>
              <a:rPr sz="1600" b="1" dirty="0">
                <a:latin typeface="Arial"/>
                <a:cs typeface="Arial"/>
              </a:rPr>
              <a:t>Matsumoto,</a:t>
            </a:r>
            <a:r>
              <a:rPr sz="1600" b="1" spc="-1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Y.,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Ogasawara,</a:t>
            </a:r>
            <a:r>
              <a:rPr sz="1600" b="1" spc="-4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K.,</a:t>
            </a:r>
            <a:r>
              <a:rPr sz="1600" b="1" spc="-3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Mizoguchi,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H.</a:t>
            </a:r>
            <a:r>
              <a:rPr sz="1600" dirty="0">
                <a:latin typeface="Arial MT"/>
                <a:cs typeface="Arial MT"/>
              </a:rPr>
              <a:t>,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Real-</a:t>
            </a:r>
            <a:r>
              <a:rPr sz="1600" dirty="0">
                <a:latin typeface="Arial MT"/>
                <a:cs typeface="Arial MT"/>
              </a:rPr>
              <a:t>Time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Posture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Monitoring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System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Using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Wearable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Sensors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Machine </a:t>
            </a:r>
            <a:r>
              <a:rPr sz="1600" dirty="0">
                <a:latin typeface="Arial MT"/>
                <a:cs typeface="Arial MT"/>
              </a:rPr>
              <a:t>Learning,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i="1" dirty="0">
                <a:latin typeface="Arial"/>
                <a:cs typeface="Arial"/>
              </a:rPr>
              <a:t>J.</a:t>
            </a:r>
            <a:r>
              <a:rPr sz="1600" i="1" spc="-40" dirty="0">
                <a:latin typeface="Arial"/>
                <a:cs typeface="Arial"/>
              </a:rPr>
              <a:t> </a:t>
            </a:r>
            <a:r>
              <a:rPr sz="1600" i="1" dirty="0">
                <a:latin typeface="Arial"/>
                <a:cs typeface="Arial"/>
              </a:rPr>
              <a:t>Robot.</a:t>
            </a:r>
            <a:r>
              <a:rPr sz="1600" i="1" spc="-10" dirty="0">
                <a:latin typeface="Arial"/>
                <a:cs typeface="Arial"/>
              </a:rPr>
              <a:t> </a:t>
            </a:r>
            <a:r>
              <a:rPr sz="1600" i="1" dirty="0">
                <a:latin typeface="Arial"/>
                <a:cs typeface="Arial"/>
              </a:rPr>
              <a:t>Mechatron.</a:t>
            </a:r>
            <a:r>
              <a:rPr sz="1600" i="1" spc="-2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33</a:t>
            </a:r>
            <a:r>
              <a:rPr sz="1600" dirty="0">
                <a:latin typeface="Arial MT"/>
                <a:cs typeface="Arial MT"/>
              </a:rPr>
              <a:t>(6)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(2021)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1202–1210.</a:t>
            </a:r>
            <a:r>
              <a:rPr sz="1600" spc="395" dirty="0">
                <a:latin typeface="Arial MT"/>
                <a:cs typeface="Arial MT"/>
              </a:rPr>
              <a:t> </a:t>
            </a:r>
            <a:r>
              <a:rPr sz="1600" u="sng" spc="-10" dirty="0">
                <a:solidFill>
                  <a:srgbClr val="2D75B6"/>
                </a:solidFill>
                <a:uFill>
                  <a:solidFill>
                    <a:srgbClr val="2D75B6"/>
                  </a:solidFill>
                </a:uFill>
                <a:latin typeface="Arial MT"/>
                <a:cs typeface="Arial MT"/>
              </a:rPr>
              <a:t>https://doi.org/10.20965/jrm.2021.p1202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6512723"/>
            <a:ext cx="12191999" cy="34527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6975" y="2389240"/>
            <a:ext cx="7961954" cy="145320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87727" y="1891157"/>
            <a:ext cx="7963534" cy="1778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0" i="1" spc="195" dirty="0">
                <a:solidFill>
                  <a:srgbClr val="252525"/>
                </a:solidFill>
                <a:latin typeface="Cambria"/>
                <a:cs typeface="Cambria"/>
              </a:rPr>
              <a:t>Thank</a:t>
            </a:r>
            <a:r>
              <a:rPr sz="11500" i="1" spc="29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1500" i="1" spc="70" dirty="0">
                <a:solidFill>
                  <a:srgbClr val="252525"/>
                </a:solidFill>
                <a:latin typeface="Cambria"/>
                <a:cs typeface="Cambria"/>
              </a:rPr>
              <a:t>you</a:t>
            </a:r>
            <a:r>
              <a:rPr sz="11500" i="1" spc="29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1500" i="1" spc="-50" dirty="0">
                <a:solidFill>
                  <a:srgbClr val="252525"/>
                </a:solidFill>
                <a:latin typeface="Cambria"/>
                <a:cs typeface="Cambria"/>
              </a:rPr>
              <a:t>!</a:t>
            </a:r>
            <a:endParaRPr sz="11500">
              <a:latin typeface="Cambria"/>
              <a:cs typeface="Cambr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6261100"/>
            <a:ext cx="12192000" cy="596900"/>
            <a:chOff x="0" y="6261100"/>
            <a:chExt cx="12192000" cy="59690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512723"/>
              <a:ext cx="12191999" cy="34527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045335" y="6261100"/>
              <a:ext cx="4907280" cy="281305"/>
            </a:xfrm>
            <a:custGeom>
              <a:avLst/>
              <a:gdLst/>
              <a:ahLst/>
              <a:cxnLst/>
              <a:rect l="l" t="t" r="r" b="b"/>
              <a:pathLst>
                <a:path w="4907280" h="281304">
                  <a:moveTo>
                    <a:pt x="4907280" y="0"/>
                  </a:moveTo>
                  <a:lnTo>
                    <a:pt x="0" y="0"/>
                  </a:lnTo>
                  <a:lnTo>
                    <a:pt x="0" y="281305"/>
                  </a:lnTo>
                  <a:lnTo>
                    <a:pt x="4907280" y="281305"/>
                  </a:lnTo>
                  <a:lnTo>
                    <a:pt x="49072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124201" y="6287820"/>
            <a:ext cx="441515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001F5F"/>
                </a:solidFill>
                <a:latin typeface="Calibri"/>
                <a:cs typeface="Calibri"/>
              </a:rPr>
              <a:t>Nagpur</a:t>
            </a:r>
            <a:r>
              <a:rPr sz="14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1F5F"/>
                </a:solidFill>
                <a:latin typeface="Calibri"/>
                <a:cs typeface="Calibri"/>
              </a:rPr>
              <a:t>|</a:t>
            </a:r>
            <a:r>
              <a:rPr sz="1400" b="1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1F5F"/>
                </a:solidFill>
                <a:latin typeface="Calibri"/>
                <a:cs typeface="Calibri"/>
              </a:rPr>
              <a:t>Pune</a:t>
            </a:r>
            <a:r>
              <a:rPr sz="14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1F5F"/>
                </a:solidFill>
                <a:latin typeface="Calibri"/>
                <a:cs typeface="Calibri"/>
              </a:rPr>
              <a:t>|</a:t>
            </a:r>
            <a:r>
              <a:rPr sz="1400" b="1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1F5F"/>
                </a:solidFill>
                <a:latin typeface="Calibri"/>
                <a:cs typeface="Calibri"/>
              </a:rPr>
              <a:t>Jalgaon</a:t>
            </a:r>
            <a:r>
              <a:rPr sz="14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1F5F"/>
                </a:solidFill>
                <a:latin typeface="Calibri"/>
                <a:cs typeface="Calibri"/>
              </a:rPr>
              <a:t>|</a:t>
            </a:r>
            <a:r>
              <a:rPr sz="1400" b="1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01F5F"/>
                </a:solidFill>
                <a:latin typeface="Calibri"/>
                <a:cs typeface="Calibri"/>
              </a:rPr>
              <a:t>Amravati</a:t>
            </a:r>
            <a:r>
              <a:rPr sz="14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1F5F"/>
                </a:solidFill>
                <a:latin typeface="Calibri"/>
                <a:cs typeface="Calibri"/>
              </a:rPr>
              <a:t>|</a:t>
            </a:r>
            <a:r>
              <a:rPr sz="1400" b="1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01F5F"/>
                </a:solidFill>
                <a:latin typeface="Calibri"/>
                <a:cs typeface="Calibri"/>
              </a:rPr>
              <a:t>Pandhurna</a:t>
            </a:r>
            <a:r>
              <a:rPr sz="140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1F5F"/>
                </a:solidFill>
                <a:latin typeface="Calibri"/>
                <a:cs typeface="Calibri"/>
              </a:rPr>
              <a:t>|</a:t>
            </a:r>
            <a:r>
              <a:rPr sz="1400" b="1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01F5F"/>
                </a:solidFill>
                <a:latin typeface="Calibri"/>
                <a:cs typeface="Calibri"/>
              </a:rPr>
              <a:t>Bhandara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5407" y="5610847"/>
            <a:ext cx="1874520" cy="90186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993283" y="213117"/>
            <a:ext cx="2061556" cy="114025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</TotalTime>
  <Words>1797</Words>
  <Application>Microsoft Office PowerPoint</Application>
  <PresentationFormat>Widescreen</PresentationFormat>
  <Paragraphs>291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Arial Black</vt:lpstr>
      <vt:lpstr>Arial MT</vt:lpstr>
      <vt:lpstr>Calibri</vt:lpstr>
      <vt:lpstr>Cambria</vt:lpstr>
      <vt:lpstr>Times New Roman</vt:lpstr>
      <vt:lpstr>Wingdings</vt:lpstr>
      <vt:lpstr>Office Theme</vt:lpstr>
      <vt:lpstr>PowerPoint Presentation</vt:lpstr>
      <vt:lpstr>Contents</vt:lpstr>
      <vt:lpstr>Introduction</vt:lpstr>
      <vt:lpstr>Impact of project on society and the environment</vt:lpstr>
      <vt:lpstr>Literature Survey</vt:lpstr>
      <vt:lpstr>Problem Statement</vt:lpstr>
      <vt:lpstr>Objectives of the Project</vt:lpstr>
      <vt:lpstr>Flowchart</vt:lpstr>
      <vt:lpstr>Output Module</vt:lpstr>
      <vt:lpstr>Real Life Examples</vt:lpstr>
      <vt:lpstr>Real Life Examples</vt:lpstr>
      <vt:lpstr>Real Life Examples</vt:lpstr>
      <vt:lpstr>Description of Project Working</vt:lpstr>
      <vt:lpstr>Innovative Work ( if any)</vt:lpstr>
      <vt:lpstr>Current Progress</vt:lpstr>
      <vt:lpstr>Result &amp; Discussion</vt:lpstr>
      <vt:lpstr>Work Plan</vt:lpstr>
      <vt:lpstr>Conclusion &amp; Future Scope</vt:lpstr>
      <vt:lpstr>References</vt:lpstr>
      <vt:lpstr>Thank you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user1</dc:creator>
  <cp:lastModifiedBy>maheshwari rewatkar</cp:lastModifiedBy>
  <cp:revision>2</cp:revision>
  <dcterms:created xsi:type="dcterms:W3CDTF">2025-09-18T16:09:53Z</dcterms:created>
  <dcterms:modified xsi:type="dcterms:W3CDTF">2025-09-18T17:16:18Z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2025-09-15T00:00:00Z</vt:filetime>
  </property>
  <property fmtid="{D5CDD505-2E9C-101B-9397-08002B2CF9AE}" pid="3" name="Creator">
    <vt:lpwstr>Microsoft® PowerPoint® 2024</vt:lpwstr>
  </property>
  <property fmtid="{D5CDD505-2E9C-101B-9397-08002B2CF9AE}" pid="4" name="LastSaved">
    <vt:filetime>2025-09-18T00:00:00Z</vt:filetime>
  </property>
  <property fmtid="{D5CDD505-2E9C-101B-9397-08002B2CF9AE}" pid="5" name="Producer">
    <vt:lpwstr>Microsoft® PowerPoint® 2024</vt:lpwstr>
  </property>
</Properties>
</file>